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3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a52fe5b-a695-f58a-405a-cc20ab3ad9ff}">
          <p14:sldIdLst>
            <p14:sldId id="256"/>
          </p14:sldIdLst>
        </p14:section>
        <p14:section name="Visão geral" id="{58ab3758-8fae-0fd6-43ba-6477fe628dd5}">
          <p14:sldIdLst>
            <p14:sldId id="257"/>
            <p14:sldId id="258"/>
          </p14:sldIdLst>
        </p14:section>
        <p14:section name="Pipeline CI/CD" id="{dae28f16-b9f1-4c52-c015-6ba4e4443ad9}">
          <p14:sldIdLst>
            <p14:sldId id="259"/>
            <p14:sldId id="260"/>
            <p14:sldId id="261"/>
            <p14:sldId id="262"/>
          </p14:sldIdLst>
        </p14:section>
        <p14:section name="Docker" id="{1020fd7d-06cc-5d9b-a228-7f6fa399f03b}">
          <p14:sldIdLst>
            <p14:sldId id="263"/>
            <p14:sldId id="264"/>
            <p14:sldId id="265"/>
          </p14:sldIdLst>
        </p14:section>
        <p14:section name="Evidências" id="{9e5dbfe3-d65f-8e04-114e-013d0768e2c5}">
          <p14:sldIdLst>
            <p14:sldId id="266"/>
            <p14:sldId id="273"/>
          </p14:sldIdLst>
        </p14:section>
        <p14:section name="Conclusão" id="{a7d93f09-ba1c-96e8-49f6-4a36c480c83f}">
          <p14:sldIdLst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828800"/>
            <a:ext cx="10698480" cy="15544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566160"/>
            <a:ext cx="10698480" cy="20116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EcoTrack API  ·  Cidades ESG Inteligentes  ·  Desafio DevOps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0.png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Ícone ESG" descr="folha (ESG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 idx="100" hasCustomPrompt="1"/>
          </p:nvPr>
        </p:nvSpPr>
        <p:spPr>
          <a:xfrm>
            <a:off x="731520" y="18288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Cidades ESG Inteligentes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EcoTrack API — Desafio DevOps</a:t>
            </a:r>
            <a:endParaRPr lang="en-US" sz="4400" dirty="0"/>
          </a:p>
        </p:txBody>
      </p:sp>
      <p:sp>
        <p:nvSpPr>
          <p:cNvPr id="4" name="Text 0"/>
          <p:cNvSpPr/>
          <p:nvPr>
            <p:ph type="body" idx="101" hasCustomPrompt="1"/>
          </p:nvPr>
        </p:nvSpPr>
        <p:spPr>
          <a:xfrm>
            <a:off x="731520" y="356616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2"/>
                </a:solidFill>
              </a:rPr>
              <a:t>Ana Luiza Arcanjo — RM 562568</a:t>
            </a:r>
            <a:endParaRPr lang="en-US" sz="1800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Turma 2TDSOA · FIAP ·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 código à produção, sem passos manuais</a:t>
            </a:r>
            <a:endParaRPr lang="en-US" sz="3200" dirty="0"/>
          </a:p>
        </p:txBody>
      </p:sp>
      <p:sp>
        <p:nvSpPr>
          <p:cNvPr id="3" name="Resumo do projeto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EcoTrack API (C# / .NET 8 + SQL Server) faz a gestão de resíduos e reciclagem: pontos de coleta, coletas, alertas de ocupação e relatórios de CO₂ evitado. Neste desafio, ela ganhou um ciclo de vida DevOps completo.</a:t>
            </a:r>
            <a:endParaRPr lang="en-US" sz="1600" dirty="0"/>
          </a:p>
        </p:txBody>
      </p:sp>
      <p:sp>
        <p:nvSpPr>
          <p:cNvPr id="4" name="Card objetivo Pipeline CI/CD"/>
          <p:cNvSpPr/>
          <p:nvPr/>
        </p:nvSpPr>
        <p:spPr>
          <a:xfrm>
            <a:off x="548640" y="237744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Pipeline CI/CD círculo"/>
          <p:cNvSpPr/>
          <p:nvPr/>
        </p:nvSpPr>
        <p:spPr>
          <a:xfrm>
            <a:off x="822960" y="2651760"/>
            <a:ext cx="822960" cy="8229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Pipeline CI/CD ícone" descr="Pipeline CI/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" y="2832811"/>
            <a:ext cx="460858" cy="460858"/>
          </a:xfrm>
          <a:prstGeom prst="rect">
            <a:avLst/>
          </a:prstGeom>
        </p:spPr>
      </p:pic>
      <p:sp>
        <p:nvSpPr>
          <p:cNvPr id="7" name="Título Pipeline CI/CD"/>
          <p:cNvSpPr txBox="1"/>
          <p:nvPr/>
        </p:nvSpPr>
        <p:spPr>
          <a:xfrm>
            <a:off x="822960" y="36576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 CI/CD</a:t>
            </a:r>
            <a:endParaRPr lang="en-US" sz="1800" dirty="0"/>
          </a:p>
        </p:txBody>
      </p:sp>
      <p:sp>
        <p:nvSpPr>
          <p:cNvPr id="8" name="Texto Pipeline CI/CD"/>
          <p:cNvSpPr txBox="1"/>
          <p:nvPr/>
        </p:nvSpPr>
        <p:spPr>
          <a:xfrm>
            <a:off x="822960" y="416052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com build, testes e deploy automáticos</a:t>
            </a:r>
            <a:endParaRPr lang="en-US" sz="1400" dirty="0"/>
          </a:p>
        </p:txBody>
      </p:sp>
      <p:sp>
        <p:nvSpPr>
          <p:cNvPr id="9" name="Card objetivo Containerização"/>
          <p:cNvSpPr/>
          <p:nvPr/>
        </p:nvSpPr>
        <p:spPr>
          <a:xfrm>
            <a:off x="3383280" y="237744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Containerização círculo"/>
          <p:cNvSpPr/>
          <p:nvPr/>
        </p:nvSpPr>
        <p:spPr>
          <a:xfrm>
            <a:off x="3657600" y="2651760"/>
            <a:ext cx="822960" cy="8229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1" name="Containerização ícone" descr="Containerizaçã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651" y="2832811"/>
            <a:ext cx="460858" cy="460858"/>
          </a:xfrm>
          <a:prstGeom prst="rect">
            <a:avLst/>
          </a:prstGeom>
        </p:spPr>
      </p:pic>
      <p:sp>
        <p:nvSpPr>
          <p:cNvPr id="12" name="Título Containerização"/>
          <p:cNvSpPr txBox="1"/>
          <p:nvPr/>
        </p:nvSpPr>
        <p:spPr>
          <a:xfrm>
            <a:off x="3657600" y="36576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Containerização</a:t>
            </a:r>
            <a:endParaRPr lang="en-US" sz="1800" dirty="0"/>
          </a:p>
        </p:txBody>
      </p:sp>
      <p:sp>
        <p:nvSpPr>
          <p:cNvPr id="13" name="Texto Containerização"/>
          <p:cNvSpPr txBox="1"/>
          <p:nvPr/>
        </p:nvSpPr>
        <p:spPr>
          <a:xfrm>
            <a:off x="3657600" y="416052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Dockerfile multi-stage, imagem publicada no GHCR</a:t>
            </a:r>
            <a:endParaRPr lang="en-US" sz="1400" dirty="0"/>
          </a:p>
        </p:txBody>
      </p:sp>
      <p:sp>
        <p:nvSpPr>
          <p:cNvPr id="14" name="Card objetivo Orquestração"/>
          <p:cNvSpPr/>
          <p:nvPr/>
        </p:nvSpPr>
        <p:spPr>
          <a:xfrm>
            <a:off x="6217920" y="237744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Orquestração círculo"/>
          <p:cNvSpPr/>
          <p:nvPr/>
        </p:nvSpPr>
        <p:spPr>
          <a:xfrm>
            <a:off x="6492240" y="2651760"/>
            <a:ext cx="822960" cy="8229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6" name="Orquestração ícone" descr="Orquestr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91" y="2832811"/>
            <a:ext cx="460858" cy="460858"/>
          </a:xfrm>
          <a:prstGeom prst="rect">
            <a:avLst/>
          </a:prstGeom>
        </p:spPr>
      </p:pic>
      <p:sp>
        <p:nvSpPr>
          <p:cNvPr id="17" name="Título Orquestração"/>
          <p:cNvSpPr txBox="1"/>
          <p:nvPr/>
        </p:nvSpPr>
        <p:spPr>
          <a:xfrm>
            <a:off x="6492240" y="36576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Orquestração</a:t>
            </a:r>
            <a:endParaRPr lang="en-US" sz="1800" dirty="0"/>
          </a:p>
        </p:txBody>
      </p:sp>
      <p:sp>
        <p:nvSpPr>
          <p:cNvPr id="18" name="Texto Orquestração"/>
          <p:cNvSpPr txBox="1"/>
          <p:nvPr/>
        </p:nvSpPr>
        <p:spPr>
          <a:xfrm>
            <a:off x="6492240" y="416052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Compose: API + SQL Server, volumes, redes e variáveis</a:t>
            </a:r>
            <a:endParaRPr lang="en-US" sz="1400" dirty="0"/>
          </a:p>
        </p:txBody>
      </p:sp>
      <p:sp>
        <p:nvSpPr>
          <p:cNvPr id="19" name="Card objetivo 2 ambientes"/>
          <p:cNvSpPr/>
          <p:nvPr/>
        </p:nvSpPr>
        <p:spPr>
          <a:xfrm>
            <a:off x="9052560" y="237744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2 ambientes círculo"/>
          <p:cNvSpPr/>
          <p:nvPr/>
        </p:nvSpPr>
        <p:spPr>
          <a:xfrm>
            <a:off x="9326880" y="2651760"/>
            <a:ext cx="822960" cy="8229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1" name="2 ambientes ícone" descr="2 ambient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931" y="2832811"/>
            <a:ext cx="460858" cy="460858"/>
          </a:xfrm>
          <a:prstGeom prst="rect">
            <a:avLst/>
          </a:prstGeom>
        </p:spPr>
      </p:pic>
      <p:sp>
        <p:nvSpPr>
          <p:cNvPr id="22" name="Título 2 ambientes"/>
          <p:cNvSpPr txBox="1"/>
          <p:nvPr/>
        </p:nvSpPr>
        <p:spPr>
          <a:xfrm>
            <a:off x="9326880" y="36576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2 ambientes</a:t>
            </a:r>
            <a:endParaRPr lang="en-US" sz="1800" dirty="0"/>
          </a:p>
        </p:txBody>
      </p:sp>
      <p:sp>
        <p:nvSpPr>
          <p:cNvPr id="23" name="Texto 2 ambientes"/>
          <p:cNvSpPr txBox="1"/>
          <p:nvPr/>
        </p:nvSpPr>
        <p:spPr>
          <a:xfrm>
            <a:off x="9326880" y="4160520"/>
            <a:ext cx="20116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Deploy em staging e produção validado por smoke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Arquitetura da solução DevOps</a:t>
            </a:r>
            <a:endParaRPr lang="en-US" sz="3200" dirty="0"/>
          </a:p>
        </p:txBody>
      </p:sp>
      <p:sp>
        <p:nvSpPr>
          <p:cNvPr id="3" name="Etapa arquitetura Desenvolvedor"/>
          <p:cNvSpPr/>
          <p:nvPr/>
        </p:nvSpPr>
        <p:spPr>
          <a:xfrm>
            <a:off x="548640" y="146304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Desenvolvedor círculo"/>
          <p:cNvSpPr/>
          <p:nvPr/>
        </p:nvSpPr>
        <p:spPr>
          <a:xfrm>
            <a:off x="1097280" y="1645920"/>
            <a:ext cx="822960" cy="822960"/>
          </a:xfrm>
          <a:prstGeom prst="ellipse">
            <a:avLst/>
          </a:prstGeom>
          <a:solidFill>
            <a:schemeClr val="accent6"/>
          </a:solidFill>
        </p:spPr>
      </p:sp>
      <p:pic>
        <p:nvPicPr>
          <p:cNvPr id="5" name="Desenvolvedor ícone" descr="Desenvolved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331" y="1826971"/>
            <a:ext cx="460858" cy="460858"/>
          </a:xfrm>
          <a:prstGeom prst="rect">
            <a:avLst/>
          </a:prstGeom>
        </p:spPr>
      </p:pic>
      <p:sp>
        <p:nvSpPr>
          <p:cNvPr id="6" name="Nome Desenvolvedor"/>
          <p:cNvSpPr txBox="1"/>
          <p:nvPr/>
        </p:nvSpPr>
        <p:spPr>
          <a:xfrm>
            <a:off x="640080" y="2606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Desenvolvedor</a:t>
            </a:r>
            <a:endParaRPr lang="en-US" sz="1600" dirty="0"/>
          </a:p>
        </p:txBody>
      </p:sp>
      <p:sp>
        <p:nvSpPr>
          <p:cNvPr id="7" name="Desc Desenvolvedor"/>
          <p:cNvSpPr txBox="1"/>
          <p:nvPr/>
        </p:nvSpPr>
        <p:spPr>
          <a:xfrm>
            <a:off x="640080" y="30175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git push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(main / develop)</a:t>
            </a:r>
            <a:endParaRPr lang="en-US" sz="1200" dirty="0"/>
          </a:p>
        </p:txBody>
      </p:sp>
      <p:sp>
        <p:nvSpPr>
          <p:cNvPr id="8" name="Seta 0"/>
          <p:cNvSpPr/>
          <p:nvPr/>
        </p:nvSpPr>
        <p:spPr>
          <a:xfrm>
            <a:off x="2496312" y="2514600"/>
            <a:ext cx="310896" cy="274320"/>
          </a:xfrm>
          <a:prstGeom prst="rightArrow">
            <a:avLst/>
          </a:prstGeom>
          <a:solidFill>
            <a:schemeClr val="accent6"/>
          </a:solidFill>
        </p:spPr>
      </p:sp>
      <p:sp>
        <p:nvSpPr>
          <p:cNvPr id="9" name="Etapa arquitetura GitHub Actions"/>
          <p:cNvSpPr/>
          <p:nvPr/>
        </p:nvSpPr>
        <p:spPr>
          <a:xfrm>
            <a:off x="2834640" y="146304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GitHub Actions círculo"/>
          <p:cNvSpPr/>
          <p:nvPr/>
        </p:nvSpPr>
        <p:spPr>
          <a:xfrm>
            <a:off x="3383280" y="1645920"/>
            <a:ext cx="822960" cy="82296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1" name="GitHub Actions ícone" descr="GitHub Ac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331" y="1826971"/>
            <a:ext cx="460858" cy="460858"/>
          </a:xfrm>
          <a:prstGeom prst="rect">
            <a:avLst/>
          </a:prstGeom>
        </p:spPr>
      </p:pic>
      <p:sp>
        <p:nvSpPr>
          <p:cNvPr id="12" name="Nome GitHub Actions"/>
          <p:cNvSpPr txBox="1"/>
          <p:nvPr/>
        </p:nvSpPr>
        <p:spPr>
          <a:xfrm>
            <a:off x="2926080" y="2606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Actions</a:t>
            </a:r>
            <a:endParaRPr lang="en-US" sz="1600" dirty="0"/>
          </a:p>
        </p:txBody>
      </p:sp>
      <p:sp>
        <p:nvSpPr>
          <p:cNvPr id="13" name="Desc GitHub Actions"/>
          <p:cNvSpPr txBox="1"/>
          <p:nvPr/>
        </p:nvSpPr>
        <p:spPr>
          <a:xfrm>
            <a:off x="2926080" y="30175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build · testes 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docker build</a:t>
            </a:r>
            <a:endParaRPr lang="en-US" sz="1200" dirty="0"/>
          </a:p>
        </p:txBody>
      </p:sp>
      <p:sp>
        <p:nvSpPr>
          <p:cNvPr id="14" name="Seta 1"/>
          <p:cNvSpPr/>
          <p:nvPr/>
        </p:nvSpPr>
        <p:spPr>
          <a:xfrm>
            <a:off x="4782312" y="2514600"/>
            <a:ext cx="310896" cy="274320"/>
          </a:xfrm>
          <a:prstGeom prst="rightArrow">
            <a:avLst/>
          </a:prstGeom>
          <a:solidFill>
            <a:schemeClr val="accent6"/>
          </a:solidFill>
        </p:spPr>
      </p:sp>
      <p:sp>
        <p:nvSpPr>
          <p:cNvPr id="15" name="Etapa arquitetura GHCR"/>
          <p:cNvSpPr/>
          <p:nvPr/>
        </p:nvSpPr>
        <p:spPr>
          <a:xfrm>
            <a:off x="5120640" y="146304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GHCR círculo"/>
          <p:cNvSpPr/>
          <p:nvPr/>
        </p:nvSpPr>
        <p:spPr>
          <a:xfrm>
            <a:off x="5669280" y="1645920"/>
            <a:ext cx="822960" cy="822960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17" name="GHCR ícone" descr="GHC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31" y="1826971"/>
            <a:ext cx="460858" cy="460858"/>
          </a:xfrm>
          <a:prstGeom prst="rect">
            <a:avLst/>
          </a:prstGeom>
        </p:spPr>
      </p:pic>
      <p:sp>
        <p:nvSpPr>
          <p:cNvPr id="18" name="Nome GHCR"/>
          <p:cNvSpPr txBox="1"/>
          <p:nvPr/>
        </p:nvSpPr>
        <p:spPr>
          <a:xfrm>
            <a:off x="5212080" y="2606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GHCR</a:t>
            </a:r>
            <a:endParaRPr lang="en-US" sz="1600" dirty="0"/>
          </a:p>
        </p:txBody>
      </p:sp>
      <p:sp>
        <p:nvSpPr>
          <p:cNvPr id="19" name="Desc GHCR"/>
          <p:cNvSpPr txBox="1"/>
          <p:nvPr/>
        </p:nvSpPr>
        <p:spPr>
          <a:xfrm>
            <a:off x="5212080" y="30175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imagem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sha-xxxxxxx</a:t>
            </a:r>
            <a:endParaRPr lang="en-US" sz="1200" dirty="0"/>
          </a:p>
        </p:txBody>
      </p:sp>
      <p:sp>
        <p:nvSpPr>
          <p:cNvPr id="20" name="Seta 2"/>
          <p:cNvSpPr/>
          <p:nvPr/>
        </p:nvSpPr>
        <p:spPr>
          <a:xfrm>
            <a:off x="7068312" y="2514600"/>
            <a:ext cx="310896" cy="274320"/>
          </a:xfrm>
          <a:prstGeom prst="rightArrow">
            <a:avLst/>
          </a:prstGeom>
          <a:solidFill>
            <a:schemeClr val="accent6"/>
          </a:solidFill>
        </p:spPr>
      </p:sp>
      <p:sp>
        <p:nvSpPr>
          <p:cNvPr id="21" name="Etapa arquitetura Staging"/>
          <p:cNvSpPr/>
          <p:nvPr/>
        </p:nvSpPr>
        <p:spPr>
          <a:xfrm>
            <a:off x="7406640" y="146304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taging círculo"/>
          <p:cNvSpPr/>
          <p:nvPr/>
        </p:nvSpPr>
        <p:spPr>
          <a:xfrm>
            <a:off x="7955280" y="1645920"/>
            <a:ext cx="822960" cy="82296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3" name="Staging ícone" descr="St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331" y="1826971"/>
            <a:ext cx="460858" cy="460858"/>
          </a:xfrm>
          <a:prstGeom prst="rect">
            <a:avLst/>
          </a:prstGeom>
        </p:spPr>
      </p:pic>
      <p:sp>
        <p:nvSpPr>
          <p:cNvPr id="24" name="Nome Staging"/>
          <p:cNvSpPr txBox="1"/>
          <p:nvPr/>
        </p:nvSpPr>
        <p:spPr>
          <a:xfrm>
            <a:off x="7498080" y="2606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Staging</a:t>
            </a:r>
            <a:endParaRPr lang="en-US" sz="1600" dirty="0"/>
          </a:p>
        </p:txBody>
      </p:sp>
      <p:sp>
        <p:nvSpPr>
          <p:cNvPr id="25" name="Desc Staging"/>
          <p:cNvSpPr txBox="1"/>
          <p:nvPr/>
        </p:nvSpPr>
        <p:spPr>
          <a:xfrm>
            <a:off x="7498080" y="30175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Compose + smoke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tests · :staging</a:t>
            </a:r>
            <a:endParaRPr lang="en-US" sz="1200" dirty="0"/>
          </a:p>
        </p:txBody>
      </p:sp>
      <p:sp>
        <p:nvSpPr>
          <p:cNvPr id="26" name="Seta 3"/>
          <p:cNvSpPr/>
          <p:nvPr/>
        </p:nvSpPr>
        <p:spPr>
          <a:xfrm>
            <a:off x="9354312" y="2514600"/>
            <a:ext cx="310896" cy="274320"/>
          </a:xfrm>
          <a:prstGeom prst="rightArrow">
            <a:avLst/>
          </a:prstGeom>
          <a:solidFill>
            <a:schemeClr val="accent6"/>
          </a:solidFill>
        </p:spPr>
      </p:sp>
      <p:sp>
        <p:nvSpPr>
          <p:cNvPr id="27" name="Etapa arquitetura Produção"/>
          <p:cNvSpPr/>
          <p:nvPr/>
        </p:nvSpPr>
        <p:spPr>
          <a:xfrm>
            <a:off x="9692640" y="1463040"/>
            <a:ext cx="1920240" cy="23774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Produção círculo"/>
          <p:cNvSpPr/>
          <p:nvPr/>
        </p:nvSpPr>
        <p:spPr>
          <a:xfrm>
            <a:off x="10241280" y="1645920"/>
            <a:ext cx="822960" cy="82296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9" name="Produção ícone" descr="Produçã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2331" y="1826971"/>
            <a:ext cx="460858" cy="460858"/>
          </a:xfrm>
          <a:prstGeom prst="rect">
            <a:avLst/>
          </a:prstGeom>
        </p:spPr>
      </p:pic>
      <p:sp>
        <p:nvSpPr>
          <p:cNvPr id="30" name="Nome Produção"/>
          <p:cNvSpPr txBox="1"/>
          <p:nvPr/>
        </p:nvSpPr>
        <p:spPr>
          <a:xfrm>
            <a:off x="9784080" y="2606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Produção</a:t>
            </a:r>
            <a:endParaRPr lang="en-US" sz="1600" dirty="0"/>
          </a:p>
        </p:txBody>
      </p:sp>
      <p:sp>
        <p:nvSpPr>
          <p:cNvPr id="31" name="Desc Produção"/>
          <p:cNvSpPr txBox="1"/>
          <p:nvPr/>
        </p:nvSpPr>
        <p:spPr>
          <a:xfrm>
            <a:off x="9784080" y="30175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Compose + smoke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tests · :production</a:t>
            </a:r>
            <a:endParaRPr lang="en-US" sz="1200" dirty="0"/>
          </a:p>
        </p:txBody>
      </p:sp>
      <p:sp>
        <p:nvSpPr>
          <p:cNvPr id="32" name="Caixa runtime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Borda runtime"/>
          <p:cNvSpPr/>
          <p:nvPr/>
        </p:nvSpPr>
        <p:spPr>
          <a:xfrm>
            <a:off x="548640" y="4206240"/>
            <a:ext cx="11064240" cy="1920240"/>
          </a:xfrm>
          <a:prstGeom prst="roundRect">
            <a:avLst>
              <a:gd name="adj" fmla="val 3810"/>
            </a:avLst>
          </a:prstGeom>
          <a:ln w="12700">
            <a:solidFill>
              <a:schemeClr val="accent1"/>
            </a:solidFill>
            <a:prstDash val="solid"/>
          </a:ln>
        </p:spPr>
      </p:sp>
      <p:sp>
        <p:nvSpPr>
          <p:cNvPr id="34" name="Título runtime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 cada ambiente (docker compose -p ecotrack-&lt;ambiente&gt;)</a:t>
            </a:r>
            <a:endParaRPr lang="en-US" sz="1400" dirty="0"/>
          </a:p>
        </p:txBody>
      </p:sp>
      <p:sp>
        <p:nvSpPr>
          <p:cNvPr id="35" name="Container API círculo"/>
          <p:cNvSpPr/>
          <p:nvPr/>
        </p:nvSpPr>
        <p:spPr>
          <a:xfrm>
            <a:off x="914400" y="48463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6" name="Container API ícone" descr="Container AP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" y="5007254"/>
            <a:ext cx="409651" cy="409651"/>
          </a:xfrm>
          <a:prstGeom prst="rect">
            <a:avLst/>
          </a:prstGeom>
        </p:spPr>
      </p:pic>
      <p:sp>
        <p:nvSpPr>
          <p:cNvPr id="37" name="Texto API"/>
          <p:cNvSpPr txBox="1"/>
          <p:nvPr/>
        </p:nvSpPr>
        <p:spPr>
          <a:xfrm>
            <a:off x="1783080" y="48920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EcoTrack .NET 8 · porta 8080/8081 · /health</a:t>
            </a:r>
            <a:endParaRPr lang="en-US" sz="1400" dirty="0"/>
          </a:p>
        </p:txBody>
      </p:sp>
      <p:sp>
        <p:nvSpPr>
          <p:cNvPr id="38" name="Seta API-DB"/>
          <p:cNvSpPr/>
          <p:nvPr/>
        </p:nvSpPr>
        <p:spPr>
          <a:xfrm>
            <a:off x="5120640" y="5074920"/>
            <a:ext cx="822960" cy="274320"/>
          </a:xfrm>
          <a:prstGeom prst="leftRightArrow">
            <a:avLst/>
          </a:prstGeom>
          <a:solidFill>
            <a:schemeClr val="accent6"/>
          </a:solidFill>
        </p:spPr>
      </p:sp>
      <p:sp>
        <p:nvSpPr>
          <p:cNvPr id="39" name="Legenda rede"/>
          <p:cNvSpPr txBox="1"/>
          <p:nvPr/>
        </p:nvSpPr>
        <p:spPr>
          <a:xfrm>
            <a:off x="4892040" y="54406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rede backend</a:t>
            </a:r>
            <a:endParaRPr lang="en-US" sz="1100" dirty="0"/>
          </a:p>
        </p:txBody>
      </p:sp>
      <p:sp>
        <p:nvSpPr>
          <p:cNvPr id="40" name="Container SQL Server círculo"/>
          <p:cNvSpPr/>
          <p:nvPr/>
        </p:nvSpPr>
        <p:spPr>
          <a:xfrm>
            <a:off x="6126480" y="4846320"/>
            <a:ext cx="731520" cy="731520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41" name="Container SQL Server ícone" descr="Container SQL Serv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7414" y="5007254"/>
            <a:ext cx="409651" cy="409651"/>
          </a:xfrm>
          <a:prstGeom prst="rect">
            <a:avLst/>
          </a:prstGeom>
        </p:spPr>
      </p:pic>
      <p:sp>
        <p:nvSpPr>
          <p:cNvPr id="42" name="Texto DB"/>
          <p:cNvSpPr txBox="1"/>
          <p:nvPr/>
        </p:nvSpPr>
        <p:spPr>
          <a:xfrm>
            <a:off x="6995160" y="48920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sqlserver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SQL Server 2022 · volume por ambiente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CI/CD no GitHub Actions: 5 etapas</a:t>
            </a:r>
            <a:endParaRPr lang="en-US" sz="3200" dirty="0"/>
          </a:p>
        </p:txBody>
      </p:sp>
      <p:sp>
        <p:nvSpPr>
          <p:cNvPr id="3" name="Etapa 1. Build"/>
          <p:cNvSpPr/>
          <p:nvPr/>
        </p:nvSpPr>
        <p:spPr>
          <a:xfrm>
            <a:off x="548640" y="1325880"/>
            <a:ext cx="69494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1. Build círculo"/>
          <p:cNvSpPr/>
          <p:nvPr/>
        </p:nvSpPr>
        <p:spPr>
          <a:xfrm>
            <a:off x="731520" y="1444752"/>
            <a:ext cx="603504" cy="60350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1. Build ícone" descr="1. Buil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91" y="1577523"/>
            <a:ext cx="337962" cy="337962"/>
          </a:xfrm>
          <a:prstGeom prst="rect">
            <a:avLst/>
          </a:prstGeom>
        </p:spPr>
      </p:pic>
      <p:sp>
        <p:nvSpPr>
          <p:cNvPr id="6" name="Nome 1. Build"/>
          <p:cNvSpPr txBox="1"/>
          <p:nvPr/>
        </p:nvSpPr>
        <p:spPr>
          <a:xfrm>
            <a:off x="1508760" y="1435608"/>
            <a:ext cx="1463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Build</a:t>
            </a:r>
            <a:endParaRPr lang="en-US" sz="1600" dirty="0"/>
          </a:p>
        </p:txBody>
      </p:sp>
      <p:sp>
        <p:nvSpPr>
          <p:cNvPr id="7" name="Desc 1. Build"/>
          <p:cNvSpPr txBox="1"/>
          <p:nvPr/>
        </p:nvSpPr>
        <p:spPr>
          <a:xfrm>
            <a:off x="2971800" y="1435608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dotnet restore + build Release, publish da API como artefato</a:t>
            </a:r>
            <a:endParaRPr lang="en-US" sz="1300" dirty="0"/>
          </a:p>
        </p:txBody>
      </p:sp>
      <p:sp>
        <p:nvSpPr>
          <p:cNvPr id="8" name="Etapa 2. Testes"/>
          <p:cNvSpPr/>
          <p:nvPr/>
        </p:nvSpPr>
        <p:spPr>
          <a:xfrm>
            <a:off x="548640" y="2313432"/>
            <a:ext cx="69494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2. Testes círculo"/>
          <p:cNvSpPr/>
          <p:nvPr/>
        </p:nvSpPr>
        <p:spPr>
          <a:xfrm>
            <a:off x="731520" y="2432304"/>
            <a:ext cx="603504" cy="603504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0" name="2. Testes ícone" descr="2. Tes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91" y="2565075"/>
            <a:ext cx="337962" cy="337962"/>
          </a:xfrm>
          <a:prstGeom prst="rect">
            <a:avLst/>
          </a:prstGeom>
        </p:spPr>
      </p:pic>
      <p:sp>
        <p:nvSpPr>
          <p:cNvPr id="11" name="Nome 2. Testes"/>
          <p:cNvSpPr txBox="1"/>
          <p:nvPr/>
        </p:nvSpPr>
        <p:spPr>
          <a:xfrm>
            <a:off x="1508760" y="2423160"/>
            <a:ext cx="1463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Testes</a:t>
            </a:r>
            <a:endParaRPr lang="en-US" sz="1600" dirty="0"/>
          </a:p>
        </p:txBody>
      </p:sp>
      <p:sp>
        <p:nvSpPr>
          <p:cNvPr id="12" name="Desc 2. Testes"/>
          <p:cNvSpPr txBox="1"/>
          <p:nvPr/>
        </p:nvSpPr>
        <p:spPr>
          <a:xfrm>
            <a:off x="2971800" y="2423160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dotnet test (xUnit) + cobertura; relatório .trx; falhou = pipeline para</a:t>
            </a:r>
            <a:endParaRPr lang="en-US" sz="1300" dirty="0"/>
          </a:p>
        </p:txBody>
      </p:sp>
      <p:sp>
        <p:nvSpPr>
          <p:cNvPr id="13" name="Etapa 3. Imagem"/>
          <p:cNvSpPr/>
          <p:nvPr/>
        </p:nvSpPr>
        <p:spPr>
          <a:xfrm>
            <a:off x="548640" y="3300984"/>
            <a:ext cx="69494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3. Imagem círculo"/>
          <p:cNvSpPr/>
          <p:nvPr/>
        </p:nvSpPr>
        <p:spPr>
          <a:xfrm>
            <a:off x="731520" y="3419856"/>
            <a:ext cx="603504" cy="603504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15" name="3. Imagem ícone" descr="3. Ima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1" y="3552627"/>
            <a:ext cx="337962" cy="337962"/>
          </a:xfrm>
          <a:prstGeom prst="rect">
            <a:avLst/>
          </a:prstGeom>
        </p:spPr>
      </p:pic>
      <p:sp>
        <p:nvSpPr>
          <p:cNvPr id="16" name="Nome 3. Imagem"/>
          <p:cNvSpPr txBox="1"/>
          <p:nvPr/>
        </p:nvSpPr>
        <p:spPr>
          <a:xfrm>
            <a:off x="1508760" y="3410712"/>
            <a:ext cx="1463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Imagem</a:t>
            </a:r>
            <a:endParaRPr lang="en-US" sz="1600" dirty="0"/>
          </a:p>
        </p:txBody>
      </p:sp>
      <p:sp>
        <p:nvSpPr>
          <p:cNvPr id="17" name="Desc 3. Imagem"/>
          <p:cNvSpPr txBox="1"/>
          <p:nvPr/>
        </p:nvSpPr>
        <p:spPr>
          <a:xfrm>
            <a:off x="2971800" y="3410712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Buildx multi-stage, push no GHCR com tags sha, branch e latest</a:t>
            </a:r>
            <a:endParaRPr lang="en-US" sz="1300" dirty="0"/>
          </a:p>
        </p:txBody>
      </p:sp>
      <p:sp>
        <p:nvSpPr>
          <p:cNvPr id="18" name="Etapa 4. Staging"/>
          <p:cNvSpPr/>
          <p:nvPr/>
        </p:nvSpPr>
        <p:spPr>
          <a:xfrm>
            <a:off x="548640" y="4288536"/>
            <a:ext cx="69494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4. Staging círculo"/>
          <p:cNvSpPr/>
          <p:nvPr/>
        </p:nvSpPr>
        <p:spPr>
          <a:xfrm>
            <a:off x="731520" y="4407408"/>
            <a:ext cx="603504" cy="603504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0" name="4. Staging ícone" descr="4. St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91" y="4540179"/>
            <a:ext cx="337962" cy="337962"/>
          </a:xfrm>
          <a:prstGeom prst="rect">
            <a:avLst/>
          </a:prstGeom>
        </p:spPr>
      </p:pic>
      <p:sp>
        <p:nvSpPr>
          <p:cNvPr id="21" name="Nome 4. Staging"/>
          <p:cNvSpPr txBox="1"/>
          <p:nvPr/>
        </p:nvSpPr>
        <p:spPr>
          <a:xfrm>
            <a:off x="1508760" y="4398264"/>
            <a:ext cx="1463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Staging</a:t>
            </a:r>
            <a:endParaRPr lang="en-US" sz="1600" dirty="0"/>
          </a:p>
        </p:txBody>
      </p:sp>
      <p:sp>
        <p:nvSpPr>
          <p:cNvPr id="22" name="Desc 4. Staging"/>
          <p:cNvSpPr txBox="1"/>
          <p:nvPr/>
        </p:nvSpPr>
        <p:spPr>
          <a:xfrm>
            <a:off x="2971800" y="4398264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pull da imagem do commit, compose up, smoke tests, tag :staging</a:t>
            </a:r>
            <a:endParaRPr lang="en-US" sz="1300" dirty="0"/>
          </a:p>
        </p:txBody>
      </p:sp>
      <p:sp>
        <p:nvSpPr>
          <p:cNvPr id="23" name="Etapa 5. Produção"/>
          <p:cNvSpPr/>
          <p:nvPr/>
        </p:nvSpPr>
        <p:spPr>
          <a:xfrm>
            <a:off x="548640" y="5276088"/>
            <a:ext cx="69494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5. Produção círculo"/>
          <p:cNvSpPr/>
          <p:nvPr/>
        </p:nvSpPr>
        <p:spPr>
          <a:xfrm>
            <a:off x="731520" y="5394960"/>
            <a:ext cx="603504" cy="603504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25" name="5. Produção ícone" descr="5. Produçã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291" y="5527731"/>
            <a:ext cx="337962" cy="337962"/>
          </a:xfrm>
          <a:prstGeom prst="rect">
            <a:avLst/>
          </a:prstGeom>
        </p:spPr>
      </p:pic>
      <p:sp>
        <p:nvSpPr>
          <p:cNvPr id="26" name="Nome 5. Produção"/>
          <p:cNvSpPr txBox="1"/>
          <p:nvPr/>
        </p:nvSpPr>
        <p:spPr>
          <a:xfrm>
            <a:off x="1508760" y="5385816"/>
            <a:ext cx="146304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5. Produção</a:t>
            </a:r>
            <a:endParaRPr lang="en-US" sz="1600" dirty="0"/>
          </a:p>
        </p:txBody>
      </p:sp>
      <p:sp>
        <p:nvSpPr>
          <p:cNvPr id="27" name="Desc 5. Produção"/>
          <p:cNvSpPr txBox="1"/>
          <p:nvPr/>
        </p:nvSpPr>
        <p:spPr>
          <a:xfrm>
            <a:off x="2971800" y="5385816"/>
            <a:ext cx="43891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só na main e após staging OK; aprovação opcional; tag :production</a:t>
            </a:r>
            <a:endParaRPr lang="en-US" sz="1300" dirty="0"/>
          </a:p>
        </p:txBody>
      </p:sp>
      <p:sp>
        <p:nvSpPr>
          <p:cNvPr id="28" name="Título gatilhos"/>
          <p:cNvSpPr txBox="1"/>
          <p:nvPr/>
        </p:nvSpPr>
        <p:spPr>
          <a:xfrm>
            <a:off x="7955280" y="13258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Gatilhos</a:t>
            </a:r>
            <a:endParaRPr lang="en-US" sz="2000" dirty="0"/>
          </a:p>
        </p:txBody>
      </p:sp>
      <p:graphicFrame>
        <p:nvGraphicFramePr>
          <p:cNvPr id="29" name="Tabela gatilhos"/>
          <p:cNvGraphicFramePr>
            <a:graphicFrameLocks noGrp="1"/>
          </p:cNvGraphicFramePr>
          <p:nvPr/>
        </p:nvGraphicFramePr>
        <p:xfrm>
          <a:off x="7955280" y="1828800"/>
          <a:ext cx="3657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Evento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Executa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Pull request → main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 + Testes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Push em develop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CI + imagem + staging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Push em main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CI + imagem + staging + produção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Run workflow (manual)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Pipeline completo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" name="Nota arquivos"/>
          <p:cNvSpPr txBox="1"/>
          <p:nvPr/>
        </p:nvSpPr>
        <p:spPr>
          <a:xfrm>
            <a:off x="7955280" y="443484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Arquivos: .github/workflows/ci-cd.yml (orquestra) e deploy.yml (workflow reutilizável, o mesmo para os dois ambientes).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Deploy: a mesma imagem de staging a produção</a:t>
            </a:r>
            <a:endParaRPr lang="en-US" sz="3200" dirty="0"/>
          </a:p>
        </p:txBody>
      </p:sp>
      <p:sp>
        <p:nvSpPr>
          <p:cNvPr id="3" name="Número passo 1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4" name="Num 1"/>
          <p:cNvSpPr txBox="1"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Passo 1"/>
          <p:cNvSpPr txBox="1"/>
          <p:nvPr/>
        </p:nvSpPr>
        <p:spPr>
          <a:xfrm>
            <a:off x="1234440" y="1325880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Gera deploy/&lt;ambiente&gt;.env com secrets do GitHub Environment</a:t>
            </a:r>
            <a:endParaRPr lang="en-US" sz="1500" dirty="0"/>
          </a:p>
        </p:txBody>
      </p:sp>
      <p:sp>
        <p:nvSpPr>
          <p:cNvPr id="6" name="Número passo 2"/>
          <p:cNvSpPr/>
          <p:nvPr/>
        </p:nvSpPr>
        <p:spPr>
          <a:xfrm>
            <a:off x="548640" y="2002536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7" name="Num 2"/>
          <p:cNvSpPr txBox="1"/>
          <p:nvPr/>
        </p:nvSpPr>
        <p:spPr>
          <a:xfrm>
            <a:off x="548640" y="20025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Passo 2"/>
          <p:cNvSpPr txBox="1"/>
          <p:nvPr/>
        </p:nvSpPr>
        <p:spPr>
          <a:xfrm>
            <a:off x="1234440" y="2002536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docker compose pull da imagem imutável sha-xxxxxxx</a:t>
            </a:r>
            <a:endParaRPr lang="en-US" sz="1500" dirty="0"/>
          </a:p>
        </p:txBody>
      </p:sp>
      <p:sp>
        <p:nvSpPr>
          <p:cNvPr id="9" name="Número passo 3"/>
          <p:cNvSpPr/>
          <p:nvPr/>
        </p:nvSpPr>
        <p:spPr>
          <a:xfrm>
            <a:off x="548640" y="2679192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Num 3"/>
          <p:cNvSpPr txBox="1"/>
          <p:nvPr/>
        </p:nvSpPr>
        <p:spPr>
          <a:xfrm>
            <a:off x="548640" y="26791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Passo 3"/>
          <p:cNvSpPr txBox="1"/>
          <p:nvPr/>
        </p:nvSpPr>
        <p:spPr>
          <a:xfrm>
            <a:off x="1234440" y="2679192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docker compose up com o override do ambiente</a:t>
            </a:r>
            <a:endParaRPr lang="en-US" sz="1500" dirty="0"/>
          </a:p>
        </p:txBody>
      </p:sp>
      <p:sp>
        <p:nvSpPr>
          <p:cNvPr id="12" name="Número passo 4"/>
          <p:cNvSpPr/>
          <p:nvPr/>
        </p:nvSpPr>
        <p:spPr>
          <a:xfrm>
            <a:off x="548640" y="3355848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3" name="Num 4"/>
          <p:cNvSpPr txBox="1"/>
          <p:nvPr/>
        </p:nvSpPr>
        <p:spPr>
          <a:xfrm>
            <a:off x="548640" y="33558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Passo 4"/>
          <p:cNvSpPr txBox="1"/>
          <p:nvPr/>
        </p:nvSpPr>
        <p:spPr>
          <a:xfrm>
            <a:off x="1234440" y="3355848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Aguarda o /health responder (até 300 s)</a:t>
            </a:r>
            <a:endParaRPr lang="en-US" sz="1500" dirty="0"/>
          </a:p>
        </p:txBody>
      </p:sp>
      <p:sp>
        <p:nvSpPr>
          <p:cNvPr id="15" name="Número passo 5"/>
          <p:cNvSpPr/>
          <p:nvPr/>
        </p:nvSpPr>
        <p:spPr>
          <a:xfrm>
            <a:off x="548640" y="4032504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6" name="Num 5"/>
          <p:cNvSpPr txBox="1"/>
          <p:nvPr/>
        </p:nvSpPr>
        <p:spPr>
          <a:xfrm>
            <a:off x="548640" y="40325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Passo 5"/>
          <p:cNvSpPr txBox="1"/>
          <p:nvPr/>
        </p:nvSpPr>
        <p:spPr>
          <a:xfrm>
            <a:off x="1234440" y="4032504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Roda 9 smoke tests (health, banco, JWT, 401…)</a:t>
            </a:r>
            <a:endParaRPr lang="en-US" sz="1500" dirty="0"/>
          </a:p>
        </p:txBody>
      </p:sp>
      <p:sp>
        <p:nvSpPr>
          <p:cNvPr id="18" name="Número passo 6"/>
          <p:cNvSpPr/>
          <p:nvPr/>
        </p:nvSpPr>
        <p:spPr>
          <a:xfrm>
            <a:off x="548640" y="4709160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9" name="Num 6"/>
          <p:cNvSpPr txBox="1"/>
          <p:nvPr/>
        </p:nvSpPr>
        <p:spPr>
          <a:xfrm>
            <a:off x="548640" y="47091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Passo 6"/>
          <p:cNvSpPr txBox="1"/>
          <p:nvPr/>
        </p:nvSpPr>
        <p:spPr>
          <a:xfrm>
            <a:off x="1234440" y="4709160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Promove a imagem para :staging ou :production</a:t>
            </a:r>
            <a:endParaRPr lang="en-US" sz="1500" dirty="0"/>
          </a:p>
        </p:txBody>
      </p:sp>
      <p:sp>
        <p:nvSpPr>
          <p:cNvPr id="21" name="Número passo 7"/>
          <p:cNvSpPr/>
          <p:nvPr/>
        </p:nvSpPr>
        <p:spPr>
          <a:xfrm>
            <a:off x="548640" y="5385816"/>
            <a:ext cx="475488" cy="47548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2" name="Num 7"/>
          <p:cNvSpPr txBox="1"/>
          <p:nvPr/>
        </p:nvSpPr>
        <p:spPr>
          <a:xfrm>
            <a:off x="548640" y="53858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Passo 7"/>
          <p:cNvSpPr txBox="1"/>
          <p:nvPr/>
        </p:nvSpPr>
        <p:spPr>
          <a:xfrm>
            <a:off x="1234440" y="5385816"/>
            <a:ext cx="56692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Salva logs e containers como evidências</a:t>
            </a:r>
            <a:endParaRPr lang="en-US" sz="1500" dirty="0"/>
          </a:p>
        </p:txBody>
      </p:sp>
      <p:sp>
        <p:nvSpPr>
          <p:cNvPr id="24" name="Card portões"/>
          <p:cNvSpPr/>
          <p:nvPr/>
        </p:nvSpPr>
        <p:spPr>
          <a:xfrm>
            <a:off x="7406640" y="1325880"/>
            <a:ext cx="4206240" cy="457200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o portões"/>
          <p:cNvSpPr txBox="1"/>
          <p:nvPr/>
        </p:nvSpPr>
        <p:spPr>
          <a:xfrm>
            <a:off x="7680960" y="1554480"/>
            <a:ext cx="365760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Portões de qualidade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Teste falhou → não gera imagem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Staging falhou → produção não roda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Produção pode exigir aprovação manual (Required reviewers)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Senhas e chave JWT ficam nos Secrets de cada ambiente, nunca no código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Staging × Produção: o que muda</a:t>
            </a:r>
            <a:endParaRPr lang="en-US" sz="3200" dirty="0"/>
          </a:p>
        </p:txBody>
      </p:sp>
      <p:graphicFrame>
        <p:nvGraphicFramePr>
          <p:cNvPr id="7" name="Tabela ambientes"/>
          <p:cNvGraphicFramePr>
            <a:graphicFrameLocks noGrp="1"/>
          </p:cNvGraphicFramePr>
          <p:nvPr/>
        </p:nvGraphicFramePr>
        <p:xfrm>
          <a:off x="548640" y="1325880"/>
          <a:ext cx="11064240" cy="45720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Produção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GitHub Environment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staging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production (aprovação opcional)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ASPNETCORE_ENVIRONMENT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Staging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Production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Compose override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docker-compose.staging.yml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docker-compose.prod.yml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Porta da API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8081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8080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Banco / volume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EcoTrackDb_Staging · sqlserver_data_staging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EcoTrackDb · sqlserver_data_production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 level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Information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Warning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Limites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CPU · 512 MB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CPU · 1 GB · restart: always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Expiração do JWT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120 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Tag promovida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:staging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:production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9 smoke tests validam cada ambiente após o deploy</a:t>
            </a:r>
            <a:endParaRPr lang="en-US" sz="3200" dirty="0"/>
          </a:p>
        </p:txBody>
      </p:sp>
      <p:sp>
        <p:nvSpPr>
          <p:cNvPr id="3" name="Smoke 1"/>
          <p:cNvSpPr/>
          <p:nvPr/>
        </p:nvSpPr>
        <p:spPr>
          <a:xfrm>
            <a:off x="548640" y="1371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Check 1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Smoke texto 1"/>
          <p:cNvSpPr txBox="1"/>
          <p:nvPr/>
        </p:nvSpPr>
        <p:spPr>
          <a:xfrm>
            <a:off x="1234440" y="1481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GET /health</a:t>
            </a:r>
            <a:endParaRPr lang="en-US" sz="1300" dirty="0"/>
          </a:p>
        </p:txBody>
      </p:sp>
      <p:sp>
        <p:nvSpPr>
          <p:cNvPr id="6" name="Smoke código 1"/>
          <p:cNvSpPr txBox="1"/>
          <p:nvPr/>
        </p:nvSpPr>
        <p:spPr>
          <a:xfrm>
            <a:off x="3246120" y="1481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200</a:t>
            </a:r>
            <a:endParaRPr lang="en-US" sz="1800" dirty="0"/>
          </a:p>
        </p:txBody>
      </p:sp>
      <p:sp>
        <p:nvSpPr>
          <p:cNvPr id="7" name="Smoke 2"/>
          <p:cNvSpPr/>
          <p:nvPr/>
        </p:nvSpPr>
        <p:spPr>
          <a:xfrm>
            <a:off x="4297680" y="1371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Check 2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645920"/>
            <a:ext cx="365760" cy="365760"/>
          </a:xfrm>
          <a:prstGeom prst="rect">
            <a:avLst/>
          </a:prstGeom>
        </p:spPr>
      </p:pic>
      <p:sp>
        <p:nvSpPr>
          <p:cNvPr id="9" name="Smoke texto 2"/>
          <p:cNvSpPr txBox="1"/>
          <p:nvPr/>
        </p:nvSpPr>
        <p:spPr>
          <a:xfrm>
            <a:off x="4983480" y="1481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environment = Staging/Production</a:t>
            </a:r>
            <a:endParaRPr lang="en-US" sz="1300" dirty="0"/>
          </a:p>
        </p:txBody>
      </p:sp>
      <p:sp>
        <p:nvSpPr>
          <p:cNvPr id="10" name="Smoke código 2"/>
          <p:cNvSpPr txBox="1"/>
          <p:nvPr/>
        </p:nvSpPr>
        <p:spPr>
          <a:xfrm>
            <a:off x="6995160" y="1481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ok</a:t>
            </a:r>
            <a:endParaRPr lang="en-US" sz="1800" dirty="0"/>
          </a:p>
        </p:txBody>
      </p:sp>
      <p:sp>
        <p:nvSpPr>
          <p:cNvPr id="11" name="Smoke 3"/>
          <p:cNvSpPr/>
          <p:nvPr/>
        </p:nvSpPr>
        <p:spPr>
          <a:xfrm>
            <a:off x="8046720" y="1371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Check 3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45920"/>
            <a:ext cx="365760" cy="365760"/>
          </a:xfrm>
          <a:prstGeom prst="rect">
            <a:avLst/>
          </a:prstGeom>
        </p:spPr>
      </p:pic>
      <p:sp>
        <p:nvSpPr>
          <p:cNvPr id="13" name="Smoke texto 3"/>
          <p:cNvSpPr txBox="1"/>
          <p:nvPr/>
        </p:nvSpPr>
        <p:spPr>
          <a:xfrm>
            <a:off x="8732520" y="1481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GET /swagger/v1/swagger.json</a:t>
            </a:r>
            <a:endParaRPr lang="en-US" sz="1300" dirty="0"/>
          </a:p>
        </p:txBody>
      </p:sp>
      <p:sp>
        <p:nvSpPr>
          <p:cNvPr id="14" name="Smoke código 3"/>
          <p:cNvSpPr txBox="1"/>
          <p:nvPr/>
        </p:nvSpPr>
        <p:spPr>
          <a:xfrm>
            <a:off x="10744200" y="1481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200</a:t>
            </a:r>
            <a:endParaRPr lang="en-US" sz="1800" dirty="0"/>
          </a:p>
        </p:txBody>
      </p:sp>
      <p:sp>
        <p:nvSpPr>
          <p:cNvPr id="15" name="Smoke 4"/>
          <p:cNvSpPr/>
          <p:nvPr/>
        </p:nvSpPr>
        <p:spPr>
          <a:xfrm>
            <a:off x="548640" y="2514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Check 4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88920"/>
            <a:ext cx="365760" cy="365760"/>
          </a:xfrm>
          <a:prstGeom prst="rect">
            <a:avLst/>
          </a:prstGeom>
        </p:spPr>
      </p:pic>
      <p:sp>
        <p:nvSpPr>
          <p:cNvPr id="17" name="Smoke texto 4"/>
          <p:cNvSpPr txBox="1"/>
          <p:nvPr/>
        </p:nvSpPr>
        <p:spPr>
          <a:xfrm>
            <a:off x="1234440" y="2624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GET /api/tipos-residuo (seed no banco)</a:t>
            </a:r>
            <a:endParaRPr lang="en-US" sz="1300" dirty="0"/>
          </a:p>
        </p:txBody>
      </p:sp>
      <p:sp>
        <p:nvSpPr>
          <p:cNvPr id="18" name="Smoke código 4"/>
          <p:cNvSpPr txBox="1"/>
          <p:nvPr/>
        </p:nvSpPr>
        <p:spPr>
          <a:xfrm>
            <a:off x="3246120" y="2624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200</a:t>
            </a:r>
            <a:endParaRPr lang="en-US" sz="1800" dirty="0"/>
          </a:p>
        </p:txBody>
      </p:sp>
      <p:sp>
        <p:nvSpPr>
          <p:cNvPr id="19" name="Smoke 5"/>
          <p:cNvSpPr/>
          <p:nvPr/>
        </p:nvSpPr>
        <p:spPr>
          <a:xfrm>
            <a:off x="4297680" y="2514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Check 5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788920"/>
            <a:ext cx="365760" cy="365760"/>
          </a:xfrm>
          <a:prstGeom prst="rect">
            <a:avLst/>
          </a:prstGeom>
        </p:spPr>
      </p:pic>
      <p:sp>
        <p:nvSpPr>
          <p:cNvPr id="21" name="Smoke texto 5"/>
          <p:cNvSpPr txBox="1"/>
          <p:nvPr/>
        </p:nvSpPr>
        <p:spPr>
          <a:xfrm>
            <a:off x="4983480" y="2624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GET /api/pontos-coleta (paginado)</a:t>
            </a:r>
            <a:endParaRPr lang="en-US" sz="1300" dirty="0"/>
          </a:p>
        </p:txBody>
      </p:sp>
      <p:sp>
        <p:nvSpPr>
          <p:cNvPr id="22" name="Smoke código 5"/>
          <p:cNvSpPr txBox="1"/>
          <p:nvPr/>
        </p:nvSpPr>
        <p:spPr>
          <a:xfrm>
            <a:off x="6995160" y="2624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200</a:t>
            </a:r>
            <a:endParaRPr lang="en-US" sz="1800" dirty="0"/>
          </a:p>
        </p:txBody>
      </p:sp>
      <p:sp>
        <p:nvSpPr>
          <p:cNvPr id="23" name="Smoke 6"/>
          <p:cNvSpPr/>
          <p:nvPr/>
        </p:nvSpPr>
        <p:spPr>
          <a:xfrm>
            <a:off x="8046720" y="2514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Check 6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788920"/>
            <a:ext cx="365760" cy="365760"/>
          </a:xfrm>
          <a:prstGeom prst="rect">
            <a:avLst/>
          </a:prstGeom>
        </p:spPr>
      </p:pic>
      <p:sp>
        <p:nvSpPr>
          <p:cNvPr id="25" name="Smoke texto 6"/>
          <p:cNvSpPr txBox="1"/>
          <p:nvPr/>
        </p:nvSpPr>
        <p:spPr>
          <a:xfrm>
            <a:off x="8732520" y="2624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POST /api/auth/cadastro</a:t>
            </a:r>
            <a:endParaRPr lang="en-US" sz="1300" dirty="0"/>
          </a:p>
        </p:txBody>
      </p:sp>
      <p:sp>
        <p:nvSpPr>
          <p:cNvPr id="26" name="Smoke código 6"/>
          <p:cNvSpPr txBox="1"/>
          <p:nvPr/>
        </p:nvSpPr>
        <p:spPr>
          <a:xfrm>
            <a:off x="10744200" y="2624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201</a:t>
            </a:r>
            <a:endParaRPr lang="en-US" sz="1800" dirty="0"/>
          </a:p>
        </p:txBody>
      </p:sp>
      <p:sp>
        <p:nvSpPr>
          <p:cNvPr id="27" name="Smoke 7"/>
          <p:cNvSpPr/>
          <p:nvPr/>
        </p:nvSpPr>
        <p:spPr>
          <a:xfrm>
            <a:off x="548640" y="3657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Check 7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931920"/>
            <a:ext cx="365760" cy="365760"/>
          </a:xfrm>
          <a:prstGeom prst="rect">
            <a:avLst/>
          </a:prstGeom>
        </p:spPr>
      </p:pic>
      <p:sp>
        <p:nvSpPr>
          <p:cNvPr id="29" name="Smoke texto 7"/>
          <p:cNvSpPr txBox="1"/>
          <p:nvPr/>
        </p:nvSpPr>
        <p:spPr>
          <a:xfrm>
            <a:off x="1234440" y="3767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POST /api/auth/login (JWT)</a:t>
            </a:r>
            <a:endParaRPr lang="en-US" sz="1300" dirty="0"/>
          </a:p>
        </p:txBody>
      </p:sp>
      <p:sp>
        <p:nvSpPr>
          <p:cNvPr id="30" name="Smoke código 7"/>
          <p:cNvSpPr txBox="1"/>
          <p:nvPr/>
        </p:nvSpPr>
        <p:spPr>
          <a:xfrm>
            <a:off x="3246120" y="3767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200</a:t>
            </a:r>
            <a:endParaRPr lang="en-US" sz="1800" dirty="0"/>
          </a:p>
        </p:txBody>
      </p:sp>
      <p:sp>
        <p:nvSpPr>
          <p:cNvPr id="31" name="Smoke 8"/>
          <p:cNvSpPr/>
          <p:nvPr/>
        </p:nvSpPr>
        <p:spPr>
          <a:xfrm>
            <a:off x="4297680" y="3657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Check 8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3931920"/>
            <a:ext cx="365760" cy="365760"/>
          </a:xfrm>
          <a:prstGeom prst="rect">
            <a:avLst/>
          </a:prstGeom>
        </p:spPr>
      </p:pic>
      <p:sp>
        <p:nvSpPr>
          <p:cNvPr id="33" name="Smoke texto 8"/>
          <p:cNvSpPr txBox="1"/>
          <p:nvPr/>
        </p:nvSpPr>
        <p:spPr>
          <a:xfrm>
            <a:off x="4983480" y="3767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GET /api/dashboard com token</a:t>
            </a:r>
            <a:endParaRPr lang="en-US" sz="1300" dirty="0"/>
          </a:p>
        </p:txBody>
      </p:sp>
      <p:sp>
        <p:nvSpPr>
          <p:cNvPr id="34" name="Smoke código 8"/>
          <p:cNvSpPr txBox="1"/>
          <p:nvPr/>
        </p:nvSpPr>
        <p:spPr>
          <a:xfrm>
            <a:off x="6995160" y="3767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200</a:t>
            </a:r>
            <a:endParaRPr lang="en-US" sz="1800" dirty="0"/>
          </a:p>
        </p:txBody>
      </p:sp>
      <p:sp>
        <p:nvSpPr>
          <p:cNvPr id="35" name="Smoke 9"/>
          <p:cNvSpPr/>
          <p:nvPr/>
        </p:nvSpPr>
        <p:spPr>
          <a:xfrm>
            <a:off x="8046720" y="3657600"/>
            <a:ext cx="34747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Check 9" descr="o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931920"/>
            <a:ext cx="365760" cy="365760"/>
          </a:xfrm>
          <a:prstGeom prst="rect">
            <a:avLst/>
          </a:prstGeom>
        </p:spPr>
      </p:pic>
      <p:sp>
        <p:nvSpPr>
          <p:cNvPr id="37" name="Smoke texto 9"/>
          <p:cNvSpPr txBox="1"/>
          <p:nvPr/>
        </p:nvSpPr>
        <p:spPr>
          <a:xfrm>
            <a:off x="8732520" y="3767328"/>
            <a:ext cx="20116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GET /api/dashboard sem token</a:t>
            </a:r>
            <a:endParaRPr lang="en-US" sz="1300" dirty="0"/>
          </a:p>
        </p:txBody>
      </p:sp>
      <p:sp>
        <p:nvSpPr>
          <p:cNvPr id="38" name="Smoke código 9"/>
          <p:cNvSpPr txBox="1"/>
          <p:nvPr/>
        </p:nvSpPr>
        <p:spPr>
          <a:xfrm>
            <a:off x="10744200" y="3767328"/>
            <a:ext cx="64008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chemeClr val="tx2"/>
                </a:solidFill>
              </a:rPr>
              <a:t>401</a:t>
            </a:r>
            <a:endParaRPr lang="en-US" sz="1800" dirty="0"/>
          </a:p>
        </p:txBody>
      </p:sp>
      <p:sp>
        <p:nvSpPr>
          <p:cNvPr id="39" name="Nota smoke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scripts/smoke-test.sh: o resultado vira uma tabela no resumo da execução do GitHub Actions, e os logs vão para os artefatos evidencias-staging e evidencias-production.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Dockerfile multi-stage: build × runtime</a:t>
            </a:r>
            <a:endParaRPr lang="en-US" sz="3200" dirty="0"/>
          </a:p>
        </p:txBody>
      </p:sp>
      <p:sp>
        <p:nvSpPr>
          <p:cNvPr id="3" name="Stage build"/>
          <p:cNvSpPr/>
          <p:nvPr/>
        </p:nvSpPr>
        <p:spPr>
          <a:xfrm>
            <a:off x="548640" y="1371600"/>
            <a:ext cx="256032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Etiqueta build"/>
          <p:cNvSpPr/>
          <p:nvPr/>
        </p:nvSpPr>
        <p:spPr>
          <a:xfrm>
            <a:off x="777240" y="1600200"/>
            <a:ext cx="21031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</p:spPr>
      </p:sp>
      <p:sp>
        <p:nvSpPr>
          <p:cNvPr id="5" name="Nome stage build"/>
          <p:cNvSpPr txBox="1"/>
          <p:nvPr/>
        </p:nvSpPr>
        <p:spPr>
          <a:xfrm>
            <a:off x="777240" y="1600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Stage 1: build</a:t>
            </a:r>
            <a:endParaRPr lang="en-US" sz="1500" dirty="0"/>
          </a:p>
        </p:txBody>
      </p:sp>
      <p:sp>
        <p:nvSpPr>
          <p:cNvPr id="6" name="Base build"/>
          <p:cNvSpPr txBox="1"/>
          <p:nvPr/>
        </p:nvSpPr>
        <p:spPr>
          <a:xfrm>
            <a:off x="777240" y="2240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sdk:8.0</a:t>
            </a:r>
            <a:endParaRPr lang="en-US" sz="1200" dirty="0"/>
          </a:p>
        </p:txBody>
      </p:sp>
      <p:sp>
        <p:nvSpPr>
          <p:cNvPr id="7" name="Desc build"/>
          <p:cNvSpPr txBox="1"/>
          <p:nvPr/>
        </p:nvSpPr>
        <p:spPr>
          <a:xfrm>
            <a:off x="777240" y="2606040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Copia .csproj → restore (cache) → copia código → build Release</a:t>
            </a:r>
            <a:endParaRPr lang="en-US" sz="1300" dirty="0"/>
          </a:p>
        </p:txBody>
      </p:sp>
      <p:sp>
        <p:nvSpPr>
          <p:cNvPr id="8" name="Stage test"/>
          <p:cNvSpPr/>
          <p:nvPr/>
        </p:nvSpPr>
        <p:spPr>
          <a:xfrm>
            <a:off x="3383280" y="1371600"/>
            <a:ext cx="256032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Etiqueta test"/>
          <p:cNvSpPr/>
          <p:nvPr/>
        </p:nvSpPr>
        <p:spPr>
          <a:xfrm>
            <a:off x="3611880" y="1600200"/>
            <a:ext cx="210312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</p:spPr>
      </p:sp>
      <p:sp>
        <p:nvSpPr>
          <p:cNvPr id="10" name="Nome stage test"/>
          <p:cNvSpPr txBox="1"/>
          <p:nvPr/>
        </p:nvSpPr>
        <p:spPr>
          <a:xfrm>
            <a:off x="3611880" y="1600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Stage 2: test</a:t>
            </a:r>
            <a:endParaRPr lang="en-US" sz="1500" dirty="0"/>
          </a:p>
        </p:txBody>
      </p:sp>
      <p:sp>
        <p:nvSpPr>
          <p:cNvPr id="11" name="Base test"/>
          <p:cNvSpPr txBox="1"/>
          <p:nvPr/>
        </p:nvSpPr>
        <p:spPr>
          <a:xfrm>
            <a:off x="3611880" y="2240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build</a:t>
            </a:r>
            <a:endParaRPr lang="en-US" sz="1200" dirty="0"/>
          </a:p>
        </p:txBody>
      </p:sp>
      <p:sp>
        <p:nvSpPr>
          <p:cNvPr id="12" name="Desc test"/>
          <p:cNvSpPr txBox="1"/>
          <p:nvPr/>
        </p:nvSpPr>
        <p:spPr>
          <a:xfrm>
            <a:off x="3611880" y="2606040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dotnet test dentro do container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(docker build --target test .)</a:t>
            </a:r>
            <a:endParaRPr lang="en-US" sz="1300" dirty="0"/>
          </a:p>
        </p:txBody>
      </p:sp>
      <p:sp>
        <p:nvSpPr>
          <p:cNvPr id="13" name="Stage publish"/>
          <p:cNvSpPr/>
          <p:nvPr/>
        </p:nvSpPr>
        <p:spPr>
          <a:xfrm>
            <a:off x="6217920" y="1371600"/>
            <a:ext cx="256032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Etiqueta publish"/>
          <p:cNvSpPr/>
          <p:nvPr/>
        </p:nvSpPr>
        <p:spPr>
          <a:xfrm>
            <a:off x="6446520" y="1600200"/>
            <a:ext cx="210312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</p:spPr>
      </p:sp>
      <p:sp>
        <p:nvSpPr>
          <p:cNvPr id="15" name="Nome stage publish"/>
          <p:cNvSpPr txBox="1"/>
          <p:nvPr/>
        </p:nvSpPr>
        <p:spPr>
          <a:xfrm>
            <a:off x="6446520" y="1600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Stage 3: publish</a:t>
            </a:r>
            <a:endParaRPr lang="en-US" sz="1500" dirty="0"/>
          </a:p>
        </p:txBody>
      </p:sp>
      <p:sp>
        <p:nvSpPr>
          <p:cNvPr id="16" name="Base publish"/>
          <p:cNvSpPr txBox="1"/>
          <p:nvPr/>
        </p:nvSpPr>
        <p:spPr>
          <a:xfrm>
            <a:off x="6446520" y="2240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build</a:t>
            </a:r>
            <a:endParaRPr lang="en-US" sz="1200" dirty="0"/>
          </a:p>
        </p:txBody>
      </p:sp>
      <p:sp>
        <p:nvSpPr>
          <p:cNvPr id="17" name="Desc publish"/>
          <p:cNvSpPr txBox="1"/>
          <p:nvPr/>
        </p:nvSpPr>
        <p:spPr>
          <a:xfrm>
            <a:off x="6446520" y="2606040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dotnet publish da API em /app/publish</a:t>
            </a:r>
            <a:endParaRPr lang="en-US" sz="1300" dirty="0"/>
          </a:p>
        </p:txBody>
      </p:sp>
      <p:sp>
        <p:nvSpPr>
          <p:cNvPr id="18" name="Stage final"/>
          <p:cNvSpPr/>
          <p:nvPr/>
        </p:nvSpPr>
        <p:spPr>
          <a:xfrm>
            <a:off x="9052560" y="1371600"/>
            <a:ext cx="256032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Etiqueta final"/>
          <p:cNvSpPr/>
          <p:nvPr/>
        </p:nvSpPr>
        <p:spPr>
          <a:xfrm>
            <a:off x="9281160" y="1600200"/>
            <a:ext cx="21031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</p:spPr>
      </p:sp>
      <p:sp>
        <p:nvSpPr>
          <p:cNvPr id="20" name="Nome stage final"/>
          <p:cNvSpPr txBox="1"/>
          <p:nvPr/>
        </p:nvSpPr>
        <p:spPr>
          <a:xfrm>
            <a:off x="9281160" y="16002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Stage 4: final</a:t>
            </a:r>
            <a:endParaRPr lang="en-US" sz="1500" dirty="0"/>
          </a:p>
        </p:txBody>
      </p:sp>
      <p:sp>
        <p:nvSpPr>
          <p:cNvPr id="21" name="Base final"/>
          <p:cNvSpPr txBox="1"/>
          <p:nvPr/>
        </p:nvSpPr>
        <p:spPr>
          <a:xfrm>
            <a:off x="9281160" y="22402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aspnet:8.0</a:t>
            </a:r>
            <a:endParaRPr lang="en-US" sz="1200" dirty="0"/>
          </a:p>
        </p:txBody>
      </p:sp>
      <p:sp>
        <p:nvSpPr>
          <p:cNvPr id="22" name="Desc final"/>
          <p:cNvSpPr txBox="1"/>
          <p:nvPr/>
        </p:nvSpPr>
        <p:spPr>
          <a:xfrm>
            <a:off x="9281160" y="2606040"/>
            <a:ext cx="21031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Runtime enxuto, usuário não-root, HEALTHCHECK em /health</a:t>
            </a:r>
            <a:endParaRPr lang="en-US" sz="1300" dirty="0"/>
          </a:p>
        </p:txBody>
      </p:sp>
      <p:sp>
        <p:nvSpPr>
          <p:cNvPr id="23" name="Cache de camadas círculo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4" name="Cache de camadas ícone" descr="Cache de camad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4438498"/>
            <a:ext cx="358445" cy="358445"/>
          </a:xfrm>
          <a:prstGeom prst="rect">
            <a:avLst/>
          </a:prstGeom>
        </p:spPr>
      </p:pic>
      <p:sp>
        <p:nvSpPr>
          <p:cNvPr id="25" name="Estratégia Cache de camadas"/>
          <p:cNvSpPr txBox="1"/>
          <p:nvPr/>
        </p:nvSpPr>
        <p:spPr>
          <a:xfrm>
            <a:off x="1325880" y="425196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Cache de camadas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restore só roda de novo se um .csproj mudar; no CI, cache type=gha</a:t>
            </a:r>
            <a:endParaRPr lang="en-US" sz="1400" dirty="0"/>
          </a:p>
        </p:txBody>
      </p:sp>
      <p:sp>
        <p:nvSpPr>
          <p:cNvPr id="26" name="Segurança círculo"/>
          <p:cNvSpPr/>
          <p:nvPr/>
        </p:nvSpPr>
        <p:spPr>
          <a:xfrm>
            <a:off x="4297680" y="429768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7" name="Segurança ícone" descr="Seguranç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98" y="4438498"/>
            <a:ext cx="358445" cy="358445"/>
          </a:xfrm>
          <a:prstGeom prst="rect">
            <a:avLst/>
          </a:prstGeom>
        </p:spPr>
      </p:pic>
      <p:sp>
        <p:nvSpPr>
          <p:cNvPr id="28" name="Estratégia Segurança"/>
          <p:cNvSpPr txBox="1"/>
          <p:nvPr/>
        </p:nvSpPr>
        <p:spPr>
          <a:xfrm>
            <a:off x="5074920" y="425196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Segurança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usuário ecotrack (não-root); segredos só via variáveis de ambiente</a:t>
            </a:r>
            <a:endParaRPr lang="en-US" sz="1400" dirty="0"/>
          </a:p>
        </p:txBody>
      </p:sp>
      <p:sp>
        <p:nvSpPr>
          <p:cNvPr id="29" name="Versionamento círculo"/>
          <p:cNvSpPr/>
          <p:nvPr/>
        </p:nvSpPr>
        <p:spPr>
          <a:xfrm>
            <a:off x="8046720" y="4297680"/>
            <a:ext cx="640080" cy="64008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30" name="Versionamento ícone" descr="Versiona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8" y="4438498"/>
            <a:ext cx="358445" cy="358445"/>
          </a:xfrm>
          <a:prstGeom prst="rect">
            <a:avLst/>
          </a:prstGeom>
        </p:spPr>
      </p:pic>
      <p:sp>
        <p:nvSpPr>
          <p:cNvPr id="31" name="Estratégia Versionamento"/>
          <p:cNvSpPr txBox="1"/>
          <p:nvPr/>
        </p:nvSpPr>
        <p:spPr>
          <a:xfrm>
            <a:off x="8823960" y="425196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Versionamento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APP_VERSION = SHA do commit, visível no /health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Docker Compose: serviços, volumes, redes e variáveis</a:t>
            </a:r>
            <a:endParaRPr lang="en-US" sz="3200" dirty="0"/>
          </a:p>
        </p:txBody>
      </p:sp>
      <p:sp>
        <p:nvSpPr>
          <p:cNvPr id="3" name="Compose Serviços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erviços círculo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Serviços ícone" descr="Serviço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806854"/>
            <a:ext cx="409651" cy="409651"/>
          </a:xfrm>
          <a:prstGeom prst="rect">
            <a:avLst/>
          </a:prstGeom>
        </p:spPr>
      </p:pic>
      <p:sp>
        <p:nvSpPr>
          <p:cNvPr id="6" name="Texto compose Serviços"/>
          <p:cNvSpPr txBox="1"/>
          <p:nvPr/>
        </p:nvSpPr>
        <p:spPr>
          <a:xfrm>
            <a:off x="1737360" y="146304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Serviços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api (EcoTrack .NET 8) e sqlserver (SQL Server 2022). A API só sobe com o banco saudável (depends_on: service_healthy).</a:t>
            </a:r>
            <a:endParaRPr lang="en-US" sz="1400" dirty="0"/>
          </a:p>
        </p:txBody>
      </p:sp>
      <p:sp>
        <p:nvSpPr>
          <p:cNvPr id="7" name="Compose Volumes"/>
          <p:cNvSpPr/>
          <p:nvPr/>
        </p:nvSpPr>
        <p:spPr>
          <a:xfrm>
            <a:off x="617220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Volumes círculo"/>
          <p:cNvSpPr/>
          <p:nvPr/>
        </p:nvSpPr>
        <p:spPr>
          <a:xfrm>
            <a:off x="6400800" y="16459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9" name="Volumes ícone" descr="Volum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734" y="1806854"/>
            <a:ext cx="409651" cy="409651"/>
          </a:xfrm>
          <a:prstGeom prst="rect">
            <a:avLst/>
          </a:prstGeom>
        </p:spPr>
      </p:pic>
      <p:sp>
        <p:nvSpPr>
          <p:cNvPr id="10" name="Texto compose Volumes"/>
          <p:cNvSpPr txBox="1"/>
          <p:nvPr/>
        </p:nvSpPr>
        <p:spPr>
          <a:xfrm>
            <a:off x="7360920" y="146304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Volumes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sqlserver_data_staging e sqlserver_data_production: os dados persistem entre deploys, cada ambiente com o seu.</a:t>
            </a:r>
            <a:endParaRPr lang="en-US" sz="1400" dirty="0"/>
          </a:p>
        </p:txBody>
      </p:sp>
      <p:sp>
        <p:nvSpPr>
          <p:cNvPr id="11" name="Compose Redes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Redes círculo"/>
          <p:cNvSpPr/>
          <p:nvPr/>
        </p:nvSpPr>
        <p:spPr>
          <a:xfrm>
            <a:off x="777240" y="32461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3" name="Redes ícone" descr="Re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3407054"/>
            <a:ext cx="409651" cy="409651"/>
          </a:xfrm>
          <a:prstGeom prst="rect">
            <a:avLst/>
          </a:prstGeom>
        </p:spPr>
      </p:pic>
      <p:sp>
        <p:nvSpPr>
          <p:cNvPr id="14" name="Texto compose Redes"/>
          <p:cNvSpPr txBox="1"/>
          <p:nvPr/>
        </p:nvSpPr>
        <p:spPr>
          <a:xfrm>
            <a:off x="1737360" y="306324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backend (API ↔ banco, interna) e frontend (API exposta). O banco não fica na rede pública.</a:t>
            </a:r>
            <a:endParaRPr lang="en-US" sz="1400" dirty="0"/>
          </a:p>
        </p:txBody>
      </p:sp>
      <p:sp>
        <p:nvSpPr>
          <p:cNvPr id="15" name="Compose Variáveis"/>
          <p:cNvSpPr/>
          <p:nvPr/>
        </p:nvSpPr>
        <p:spPr>
          <a:xfrm>
            <a:off x="6172200" y="29260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Variáveis círculo"/>
          <p:cNvSpPr/>
          <p:nvPr/>
        </p:nvSpPr>
        <p:spPr>
          <a:xfrm>
            <a:off x="6400800" y="32461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17" name="Variáveis ícone" descr="Variáve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734" y="3407054"/>
            <a:ext cx="409651" cy="409651"/>
          </a:xfrm>
          <a:prstGeom prst="rect">
            <a:avLst/>
          </a:prstGeom>
        </p:spPr>
      </p:pic>
      <p:sp>
        <p:nvSpPr>
          <p:cNvPr id="18" name="Texto compose Variáveis"/>
          <p:cNvSpPr txBox="1"/>
          <p:nvPr/>
        </p:nvSpPr>
        <p:spPr>
          <a:xfrm>
            <a:off x="7360920" y="306324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Variáveis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.env (local) e deploy/&lt;ambiente&gt;.env (gerado pelo pipeline): senha, JWT, portas, imagem e versão.</a:t>
            </a:r>
            <a:endParaRPr lang="en-US" sz="1400" dirty="0"/>
          </a:p>
        </p:txBody>
      </p:sp>
      <p:sp>
        <p:nvSpPr>
          <p:cNvPr id="19" name="Compose Healthchecks"/>
          <p:cNvSpPr/>
          <p:nvPr/>
        </p:nvSpPr>
        <p:spPr>
          <a:xfrm>
            <a:off x="54864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Healthchecks círculo"/>
          <p:cNvSpPr/>
          <p:nvPr/>
        </p:nvSpPr>
        <p:spPr>
          <a:xfrm>
            <a:off x="777240" y="48463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1" name="Healthchecks ícone" descr="Healthcheck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5007254"/>
            <a:ext cx="409651" cy="409651"/>
          </a:xfrm>
          <a:prstGeom prst="rect">
            <a:avLst/>
          </a:prstGeom>
        </p:spPr>
      </p:pic>
      <p:sp>
        <p:nvSpPr>
          <p:cNvPr id="22" name="Texto compose Healthchecks"/>
          <p:cNvSpPr txBox="1"/>
          <p:nvPr/>
        </p:nvSpPr>
        <p:spPr>
          <a:xfrm>
            <a:off x="1737360" y="466344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Healthchecks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sqlcmd SELECT 1 no banco e curl /health na API. Logs com rotação de 10 MB × 3.</a:t>
            </a:r>
            <a:endParaRPr lang="en-US" sz="1400" dirty="0"/>
          </a:p>
        </p:txBody>
      </p:sp>
      <p:sp>
        <p:nvSpPr>
          <p:cNvPr id="23" name="Compose Overrides"/>
          <p:cNvSpPr/>
          <p:nvPr/>
        </p:nvSpPr>
        <p:spPr>
          <a:xfrm>
            <a:off x="617220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Overrides círculo"/>
          <p:cNvSpPr/>
          <p:nvPr/>
        </p:nvSpPr>
        <p:spPr>
          <a:xfrm>
            <a:off x="6400800" y="4846320"/>
            <a:ext cx="731520" cy="73152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25" name="Overrides ícone" descr="Overrid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734" y="5007254"/>
            <a:ext cx="409651" cy="409651"/>
          </a:xfrm>
          <a:prstGeom prst="rect">
            <a:avLst/>
          </a:prstGeom>
        </p:spPr>
      </p:pic>
      <p:sp>
        <p:nvSpPr>
          <p:cNvPr id="26" name="Texto compose Overrides"/>
          <p:cNvSpPr txBox="1"/>
          <p:nvPr/>
        </p:nvSpPr>
        <p:spPr>
          <a:xfrm>
            <a:off x="7360920" y="4663440"/>
            <a:ext cx="40690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Overrides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docker-compose.staging.yml / .prod.yml mudam ambiente, volume, CPU/memória e restart.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Comandos usados e imagem criada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548640" y="1325880"/>
            <a:ext cx="667512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omandos"/>
          <p:cNvSpPr txBox="1"/>
          <p:nvPr/>
        </p:nvSpPr>
        <p:spPr>
          <a:xfrm>
            <a:off x="822960" y="1554480"/>
            <a:ext cx="621792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FB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local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cp .env.example .env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compose up -d --build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compose ps / logs -f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build --target test 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ambientes (mesmos comandos do pipeline)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./scripts/deploy.sh staging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./scripts/deploy.sh production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./scripts/smoke-test.sh http://localhost:8081 Staging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FB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 encerrar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1E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docker compose down -v</a:t>
            </a:r>
            <a:endParaRPr lang="en-US" sz="1400" dirty="0"/>
          </a:p>
        </p:txBody>
      </p:sp>
      <p:sp>
        <p:nvSpPr>
          <p:cNvPr id="5" name="Título imagem"/>
          <p:cNvSpPr txBox="1"/>
          <p:nvPr/>
        </p:nvSpPr>
        <p:spPr>
          <a:xfrm>
            <a:off x="7589520" y="13258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Imagem publicada no GHCR</a:t>
            </a:r>
            <a:endParaRPr lang="en-US" sz="2000" dirty="0"/>
          </a:p>
        </p:txBody>
      </p:sp>
      <p:sp>
        <p:nvSpPr>
          <p:cNvPr id="6" name="Nome imagem"/>
          <p:cNvSpPr txBox="1"/>
          <p:nvPr/>
        </p:nvSpPr>
        <p:spPr>
          <a:xfrm>
            <a:off x="7589520" y="1783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ghcr.io/analuarcanjo/ecotrack-devops</a:t>
            </a:r>
            <a:endParaRPr lang="en-US" sz="1400" dirty="0"/>
          </a:p>
        </p:txBody>
      </p:sp>
      <p:sp>
        <p:nvSpPr>
          <p:cNvPr id="7" name="Tag sha-xxxxxxx"/>
          <p:cNvSpPr/>
          <p:nvPr/>
        </p:nvSpPr>
        <p:spPr>
          <a:xfrm>
            <a:off x="7589520" y="2331720"/>
            <a:ext cx="1737360" cy="438912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</p:spPr>
      </p:sp>
      <p:sp>
        <p:nvSpPr>
          <p:cNvPr id="8" name="Tag texto sha-xxxxxxx"/>
          <p:cNvSpPr txBox="1"/>
          <p:nvPr/>
        </p:nvSpPr>
        <p:spPr>
          <a:xfrm>
            <a:off x="7589520" y="2331720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sha-xxxxxxx</a:t>
            </a:r>
            <a:endParaRPr lang="en-US" sz="1200" dirty="0"/>
          </a:p>
        </p:txBody>
      </p:sp>
      <p:sp>
        <p:nvSpPr>
          <p:cNvPr id="9" name="Tag desc sha-xxxxxxx"/>
          <p:cNvSpPr txBox="1"/>
          <p:nvPr/>
        </p:nvSpPr>
        <p:spPr>
          <a:xfrm>
            <a:off x="9464040" y="233172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imutável, uma por commit</a:t>
            </a:r>
            <a:endParaRPr lang="en-US" sz="1300" dirty="0"/>
          </a:p>
        </p:txBody>
      </p:sp>
      <p:sp>
        <p:nvSpPr>
          <p:cNvPr id="10" name="Tag main / develop"/>
          <p:cNvSpPr/>
          <p:nvPr/>
        </p:nvSpPr>
        <p:spPr>
          <a:xfrm>
            <a:off x="7589520" y="2935224"/>
            <a:ext cx="1737360" cy="438912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</p:spPr>
      </p:sp>
      <p:sp>
        <p:nvSpPr>
          <p:cNvPr id="11" name="Tag texto main / develop"/>
          <p:cNvSpPr txBox="1"/>
          <p:nvPr/>
        </p:nvSpPr>
        <p:spPr>
          <a:xfrm>
            <a:off x="7589520" y="2935224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main / develop</a:t>
            </a:r>
            <a:endParaRPr lang="en-US" sz="1200" dirty="0"/>
          </a:p>
        </p:txBody>
      </p:sp>
      <p:sp>
        <p:nvSpPr>
          <p:cNvPr id="12" name="Tag desc main / develop"/>
          <p:cNvSpPr txBox="1"/>
          <p:nvPr/>
        </p:nvSpPr>
        <p:spPr>
          <a:xfrm>
            <a:off x="9464040" y="2935224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última da branch</a:t>
            </a:r>
            <a:endParaRPr lang="en-US" sz="1300" dirty="0"/>
          </a:p>
        </p:txBody>
      </p:sp>
      <p:sp>
        <p:nvSpPr>
          <p:cNvPr id="13" name="Tag latest"/>
          <p:cNvSpPr/>
          <p:nvPr/>
        </p:nvSpPr>
        <p:spPr>
          <a:xfrm>
            <a:off x="7589520" y="3538728"/>
            <a:ext cx="1737360" cy="438912"/>
          </a:xfrm>
          <a:prstGeom prst="roundRect">
            <a:avLst>
              <a:gd name="adj" fmla="val 20833"/>
            </a:avLst>
          </a:prstGeom>
          <a:solidFill>
            <a:schemeClr val="accent4"/>
          </a:solidFill>
        </p:spPr>
      </p:sp>
      <p:sp>
        <p:nvSpPr>
          <p:cNvPr id="14" name="Tag texto latest"/>
          <p:cNvSpPr txBox="1"/>
          <p:nvPr/>
        </p:nvSpPr>
        <p:spPr>
          <a:xfrm>
            <a:off x="7589520" y="3538728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latest</a:t>
            </a:r>
            <a:endParaRPr lang="en-US" sz="1200" dirty="0"/>
          </a:p>
        </p:txBody>
      </p:sp>
      <p:sp>
        <p:nvSpPr>
          <p:cNvPr id="15" name="Tag desc latest"/>
          <p:cNvSpPr txBox="1"/>
          <p:nvPr/>
        </p:nvSpPr>
        <p:spPr>
          <a:xfrm>
            <a:off x="9464040" y="3538728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última da main</a:t>
            </a:r>
            <a:endParaRPr lang="en-US" sz="1300" dirty="0"/>
          </a:p>
        </p:txBody>
      </p:sp>
      <p:sp>
        <p:nvSpPr>
          <p:cNvPr id="16" name="Tag staging"/>
          <p:cNvSpPr/>
          <p:nvPr/>
        </p:nvSpPr>
        <p:spPr>
          <a:xfrm>
            <a:off x="7589520" y="4142232"/>
            <a:ext cx="1737360" cy="438912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</p:spPr>
      </p:sp>
      <p:sp>
        <p:nvSpPr>
          <p:cNvPr id="17" name="Tag texto staging"/>
          <p:cNvSpPr txBox="1"/>
          <p:nvPr/>
        </p:nvSpPr>
        <p:spPr>
          <a:xfrm>
            <a:off x="7589520" y="4142232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staging</a:t>
            </a:r>
            <a:endParaRPr lang="en-US" sz="1200" dirty="0"/>
          </a:p>
        </p:txBody>
      </p:sp>
      <p:sp>
        <p:nvSpPr>
          <p:cNvPr id="18" name="Tag desc staging"/>
          <p:cNvSpPr txBox="1"/>
          <p:nvPr/>
        </p:nvSpPr>
        <p:spPr>
          <a:xfrm>
            <a:off x="9464040" y="4142232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promovida após smoke OK</a:t>
            </a:r>
            <a:endParaRPr lang="en-US" sz="1300" dirty="0"/>
          </a:p>
        </p:txBody>
      </p:sp>
      <p:sp>
        <p:nvSpPr>
          <p:cNvPr id="19" name="Tag production"/>
          <p:cNvSpPr/>
          <p:nvPr/>
        </p:nvSpPr>
        <p:spPr>
          <a:xfrm>
            <a:off x="7589520" y="4745736"/>
            <a:ext cx="1737360" cy="438912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</p:spPr>
      </p:sp>
      <p:sp>
        <p:nvSpPr>
          <p:cNvPr id="20" name="Tag texto production"/>
          <p:cNvSpPr txBox="1"/>
          <p:nvPr/>
        </p:nvSpPr>
        <p:spPr>
          <a:xfrm>
            <a:off x="7589520" y="4745736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21" name="Tag desc production"/>
          <p:cNvSpPr txBox="1"/>
          <p:nvPr/>
        </p:nvSpPr>
        <p:spPr>
          <a:xfrm>
            <a:off x="9464040" y="4745736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promovida após smoke OK</a:t>
            </a:r>
            <a:endParaRPr lang="en-US" sz="1300" dirty="0"/>
          </a:p>
        </p:txBody>
      </p:sp>
      <p:sp>
        <p:nvSpPr>
          <p:cNvPr id="22" name="Nota imagem"/>
          <p:cNvSpPr txBox="1"/>
          <p:nvPr/>
        </p:nvSpPr>
        <p:spPr>
          <a:xfrm>
            <a:off x="7589520" y="54406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Base mcr.microsoft.com/dotnet/aspnet:8.0 · porta 8080 · usuário ecotrack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-19812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rodando: visão geral, build e testes</a:t>
            </a:r>
            <a:endParaRPr lang="en-US" sz="3200" dirty="0"/>
          </a:p>
        </p:txBody>
      </p:sp>
      <p:sp>
        <p:nvSpPr>
          <p:cNvPr id="11" name="Legenda print Print 3: testes automatizados"/>
          <p:cNvSpPr txBox="1"/>
          <p:nvPr/>
        </p:nvSpPr>
        <p:spPr>
          <a:xfrm>
            <a:off x="6446520" y="498348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3: testes automatizados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Resumo 🧪 (total/passaram) ou aba Checks com o relatório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3" name="Legenda print Print 1: execução completa do pipeline"/>
          <p:cNvSpPr txBox="1"/>
          <p:nvPr/>
        </p:nvSpPr>
        <p:spPr>
          <a:xfrm>
            <a:off x="1009650" y="5105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1: execução completa do pipeline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Actions → execução na main → grafo build → testes → docker → staging → produção, tudo verde</a:t>
            </a:r>
            <a:endParaRPr lang="en-US" sz="1400" dirty="0"/>
          </a:p>
        </p:txBody>
      </p:sp>
      <p:sp>
        <p:nvSpPr>
          <p:cNvPr id="14" name="Legenda print Print 2: job Build"/>
          <p:cNvSpPr txBox="1"/>
          <p:nvPr/>
        </p:nvSpPr>
        <p:spPr>
          <a:xfrm>
            <a:off x="-421640" y="3665855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2: job Build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Abra o job 🔨 Build com os passos expandidos</a:t>
            </a:r>
            <a:endParaRPr lang="en-US" sz="1400" dirty="0"/>
          </a:p>
        </p:txBody>
      </p:sp>
      <p:sp>
        <p:nvSpPr>
          <p:cNvPr id="17" name="Legenda print Print 3: testes automatizados"/>
          <p:cNvSpPr txBox="1"/>
          <p:nvPr/>
        </p:nvSpPr>
        <p:spPr>
          <a:xfrm>
            <a:off x="8472170" y="3665855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3: testes automatizados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Resumo 🧪 (total/passaram) ou aba Checks com o relatório</a:t>
            </a:r>
            <a:endParaRPr lang="en-US" sz="14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655" y="732790"/>
            <a:ext cx="6203315" cy="308864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3929380"/>
            <a:ext cx="6130925" cy="252539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860" y="3929380"/>
            <a:ext cx="6192520" cy="2774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rodando: imagem e deploys</a:t>
            </a:r>
            <a:endParaRPr lang="en-US" sz="3200" dirty="0"/>
          </a:p>
        </p:txBody>
      </p:sp>
      <p:pic>
        <p:nvPicPr>
          <p:cNvPr id="4" name="Ícone print Print 4: imagem no GHCR" descr="câme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660" y="1783080"/>
            <a:ext cx="548640" cy="548640"/>
          </a:xfrm>
          <a:prstGeom prst="rect">
            <a:avLst/>
          </a:prstGeom>
        </p:spPr>
      </p:pic>
      <p:sp>
        <p:nvSpPr>
          <p:cNvPr id="5" name="Legenda print Print 4: imagem no GHCR"/>
          <p:cNvSpPr txBox="1"/>
          <p:nvPr/>
        </p:nvSpPr>
        <p:spPr>
          <a:xfrm>
            <a:off x="-206375" y="1073785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4: imagem no GHCR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Perfil/repo → Packages → tags sha, latest, staging, production</a:t>
            </a:r>
            <a:endParaRPr lang="en-US" sz="1400" dirty="0"/>
          </a:p>
        </p:txBody>
      </p:sp>
      <p:sp>
        <p:nvSpPr>
          <p:cNvPr id="8" name="Legenda print Print 5: environments"/>
          <p:cNvSpPr txBox="1"/>
          <p:nvPr/>
        </p:nvSpPr>
        <p:spPr>
          <a:xfrm>
            <a:off x="6573520" y="102108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5: environments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: staging e production ativos</a:t>
            </a:r>
            <a:endParaRPr lang="en-US" sz="1400" dirty="0"/>
          </a:p>
        </p:txBody>
      </p:sp>
      <p:sp>
        <p:nvSpPr>
          <p:cNvPr id="11" name="Legenda print Print 6: job Deploy STAGING"/>
          <p:cNvSpPr txBox="1"/>
          <p:nvPr/>
        </p:nvSpPr>
        <p:spPr>
          <a:xfrm>
            <a:off x="513715" y="404241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6: job Deploy STAGING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Job 🚀 com os passos Deploy, Smoke tests e Promover imagem</a:t>
            </a:r>
            <a:endParaRPr lang="en-US" sz="1400" dirty="0"/>
          </a:p>
        </p:txBody>
      </p:sp>
      <p:sp>
        <p:nvSpPr>
          <p:cNvPr id="14" name="Legenda print Print 7: job Deploy PRODUÇÃO"/>
          <p:cNvSpPr txBox="1"/>
          <p:nvPr/>
        </p:nvSpPr>
        <p:spPr>
          <a:xfrm>
            <a:off x="6505575" y="3978275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Print 7: job Deploy PRODUÇÃO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6"/>
                </a:solidFill>
              </a:rPr>
              <a:t>Job 🏭 (com a aprovação, se ativada)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9" name="Dica evidências"/>
          <p:cNvSpPr txBox="1"/>
          <p:nvPr/>
        </p:nvSpPr>
        <p:spPr>
          <a:xfrm>
            <a:off x="548640" y="5943600"/>
            <a:ext cx="1143952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Execução com tudo verde: github.com/AnaluArcanjo/ecotrack-devops/</a:t>
            </a:r>
            <a:r>
              <a:rPr lang="en-US" altLang="pt-BR" sz="1400" i="1" dirty="0">
                <a:solidFill>
                  <a:schemeClr val="accent6"/>
                </a:solidFill>
              </a:rPr>
              <a:t>actions/runs/38478812109</a:t>
            </a:r>
            <a:r>
              <a:rPr lang="en-US" sz="1400" i="1" dirty="0">
                <a:solidFill>
                  <a:schemeClr val="accent6"/>
                </a:solidFill>
              </a:rPr>
              <a:t>. Os artefatos evidencias-staging e evidencias-production trazem health.json, smoke-report.md e os logs da API e do banco.</a:t>
            </a:r>
            <a:endParaRPr lang="en-US" sz="14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955"/>
            <a:ext cx="5561965" cy="2397125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rcRect r="7457"/>
          <a:stretch>
            <a:fillRect/>
          </a:stretch>
        </p:blipFill>
        <p:spPr>
          <a:xfrm>
            <a:off x="7868920" y="1290955"/>
            <a:ext cx="2301240" cy="2539365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15" y="4257675"/>
            <a:ext cx="6516370" cy="1579245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755" y="4199890"/>
            <a:ext cx="6734175" cy="1689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Desafios encontrados e como foram resolvidos</a:t>
            </a:r>
            <a:endParaRPr lang="en-US" sz="3200" dirty="0"/>
          </a:p>
        </p:txBody>
      </p:sp>
      <p:sp>
        <p:nvSpPr>
          <p:cNvPr id="3" name="Desafio 1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Desafio 1 círculo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5" name="Desafio 1 ícone" descr="Desafio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832458"/>
            <a:ext cx="358445" cy="358445"/>
          </a:xfrm>
          <a:prstGeom prst="rect">
            <a:avLst/>
          </a:prstGeom>
        </p:spPr>
      </p:pic>
      <p:sp>
        <p:nvSpPr>
          <p:cNvPr id="6" name="Texto desafio 1"/>
          <p:cNvSpPr txBox="1"/>
          <p:nvPr/>
        </p:nvSpPr>
        <p:spPr>
          <a:xfrm>
            <a:off x="1600200" y="1435608"/>
            <a:ext cx="420624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 Docker na máquina local (sem virtualização)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Build, testes e deploys rodam nos runners Linux do GitHub Actions, que já têm Docker; o Codespaces fica como alternativa para rodar local.</a:t>
            </a:r>
            <a:endParaRPr lang="en-US" sz="1400" dirty="0"/>
          </a:p>
        </p:txBody>
      </p:sp>
      <p:sp>
        <p:nvSpPr>
          <p:cNvPr id="7" name="Desafio 2"/>
          <p:cNvSpPr/>
          <p:nvPr/>
        </p:nvSpPr>
        <p:spPr>
          <a:xfrm>
            <a:off x="6172200" y="13258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Desafio 2 círculo"/>
          <p:cNvSpPr/>
          <p:nvPr/>
        </p:nvSpPr>
        <p:spPr>
          <a:xfrm>
            <a:off x="6400800" y="169164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9" name="Desafio 2 ícone" descr="Desafio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618" y="1832458"/>
            <a:ext cx="358445" cy="358445"/>
          </a:xfrm>
          <a:prstGeom prst="rect">
            <a:avLst/>
          </a:prstGeom>
        </p:spPr>
      </p:pic>
      <p:sp>
        <p:nvSpPr>
          <p:cNvPr id="10" name="Texto desafio 2"/>
          <p:cNvSpPr txBox="1"/>
          <p:nvPr/>
        </p:nvSpPr>
        <p:spPr>
          <a:xfrm>
            <a:off x="7223760" y="1435608"/>
            <a:ext cx="420624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API subia antes do SQL Server estar pronto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Healthcheck com sqlcmd no banco + depends_on: service_healthy; o deploy.sh espera o /health antes dos testes.</a:t>
            </a:r>
            <a:endParaRPr lang="en-US" sz="1400" dirty="0"/>
          </a:p>
        </p:txBody>
      </p:sp>
      <p:sp>
        <p:nvSpPr>
          <p:cNvPr id="11" name="Desafio 3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Desafio 3 círculo"/>
          <p:cNvSpPr/>
          <p:nvPr/>
        </p:nvSpPr>
        <p:spPr>
          <a:xfrm>
            <a:off x="777240" y="329184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3" name="Desafio 3 ícone" descr="Desafio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3432658"/>
            <a:ext cx="358445" cy="358445"/>
          </a:xfrm>
          <a:prstGeom prst="rect">
            <a:avLst/>
          </a:prstGeom>
        </p:spPr>
      </p:pic>
      <p:sp>
        <p:nvSpPr>
          <p:cNvPr id="14" name="Texto desafio 3"/>
          <p:cNvSpPr txBox="1"/>
          <p:nvPr/>
        </p:nvSpPr>
        <p:spPr>
          <a:xfrm>
            <a:off x="1600200" y="3035808"/>
            <a:ext cx="420624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Garantir que produção recebe o que foi testado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Tag imutável sha-xxxxxxx; a mesma imagem passa por staging e só depois é promovida para :production.</a:t>
            </a:r>
            <a:endParaRPr lang="en-US" sz="1400" dirty="0"/>
          </a:p>
        </p:txBody>
      </p:sp>
      <p:sp>
        <p:nvSpPr>
          <p:cNvPr id="15" name="Desafio 4"/>
          <p:cNvSpPr/>
          <p:nvPr/>
        </p:nvSpPr>
        <p:spPr>
          <a:xfrm>
            <a:off x="6172200" y="29260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Desafio 4 círculo"/>
          <p:cNvSpPr/>
          <p:nvPr/>
        </p:nvSpPr>
        <p:spPr>
          <a:xfrm>
            <a:off x="6400800" y="329184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7" name="Desafio 4 ícone" descr="Desafio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618" y="3432658"/>
            <a:ext cx="358445" cy="358445"/>
          </a:xfrm>
          <a:prstGeom prst="rect">
            <a:avLst/>
          </a:prstGeom>
        </p:spPr>
      </p:pic>
      <p:sp>
        <p:nvSpPr>
          <p:cNvPr id="18" name="Texto desafio 4"/>
          <p:cNvSpPr txBox="1"/>
          <p:nvPr/>
        </p:nvSpPr>
        <p:spPr>
          <a:xfrm>
            <a:off x="7223760" y="3035808"/>
            <a:ext cx="420624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Segredos fora do código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Secrets por GitHub Environment geram o .env no deploy; .env e deploy/*.env no .gitignore e no .dockerignore.</a:t>
            </a:r>
            <a:endParaRPr lang="en-US" sz="1400" dirty="0"/>
          </a:p>
        </p:txBody>
      </p:sp>
      <p:sp>
        <p:nvSpPr>
          <p:cNvPr id="19" name="Desafio 5"/>
          <p:cNvSpPr/>
          <p:nvPr/>
        </p:nvSpPr>
        <p:spPr>
          <a:xfrm>
            <a:off x="54864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Desafio 5 círculo"/>
          <p:cNvSpPr/>
          <p:nvPr/>
        </p:nvSpPr>
        <p:spPr>
          <a:xfrm>
            <a:off x="777240" y="489204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1" name="Desafio 5 ícone" descr="Desafio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5032858"/>
            <a:ext cx="358445" cy="358445"/>
          </a:xfrm>
          <a:prstGeom prst="rect">
            <a:avLst/>
          </a:prstGeom>
        </p:spPr>
      </p:pic>
      <p:sp>
        <p:nvSpPr>
          <p:cNvPr id="22" name="Texto desafio 5"/>
          <p:cNvSpPr txBox="1"/>
          <p:nvPr/>
        </p:nvSpPr>
        <p:spPr>
          <a:xfrm>
            <a:off x="1600200" y="4636008"/>
            <a:ext cx="420624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Testes existentes não compilavam no CI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Comentário sem // e usings faltando na factory de testes; corrigidos, e o pipeline barra o deploy enquanto houver erro.</a:t>
            </a:r>
            <a:endParaRPr lang="en-US" sz="1400" dirty="0"/>
          </a:p>
        </p:txBody>
      </p:sp>
      <p:sp>
        <p:nvSpPr>
          <p:cNvPr id="23" name="Desafio 6"/>
          <p:cNvSpPr/>
          <p:nvPr/>
        </p:nvSpPr>
        <p:spPr>
          <a:xfrm>
            <a:off x="6172200" y="4526280"/>
            <a:ext cx="54406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Desafio 6 círculo"/>
          <p:cNvSpPr/>
          <p:nvPr/>
        </p:nvSpPr>
        <p:spPr>
          <a:xfrm>
            <a:off x="6400800" y="4892040"/>
            <a:ext cx="640080" cy="64008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25" name="Desafio 6 ícone" descr="Desafio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618" y="5032858"/>
            <a:ext cx="358445" cy="358445"/>
          </a:xfrm>
          <a:prstGeom prst="rect">
            <a:avLst/>
          </a:prstGeom>
        </p:spPr>
      </p:pic>
      <p:sp>
        <p:nvSpPr>
          <p:cNvPr id="26" name="Texto desafio 6"/>
          <p:cNvSpPr txBox="1"/>
          <p:nvPr/>
        </p:nvSpPr>
        <p:spPr>
          <a:xfrm>
            <a:off x="7223760" y="4636008"/>
            <a:ext cx="420624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Login nos testes dava 401 (dados de teste sumiam)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Seed ia para outro banco InMemory e era pulado pelo HasData: InMemoryDatabaseRoot compartilhado + checagem por Id.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Checklist de entrega</a:t>
            </a:r>
            <a:endParaRPr lang="en-US" sz="3200" dirty="0"/>
          </a:p>
        </p:txBody>
      </p:sp>
      <p:sp>
        <p:nvSpPr>
          <p:cNvPr id="3" name="Item 1"/>
          <p:cNvSpPr/>
          <p:nvPr/>
        </p:nvSpPr>
        <p:spPr>
          <a:xfrm>
            <a:off x="548640" y="1371600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Check item 1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72184"/>
            <a:ext cx="329184" cy="329184"/>
          </a:xfrm>
          <a:prstGeom prst="rect">
            <a:avLst/>
          </a:prstGeom>
        </p:spPr>
      </p:pic>
      <p:sp>
        <p:nvSpPr>
          <p:cNvPr id="5" name="Texto item 1"/>
          <p:cNvSpPr txBox="1"/>
          <p:nvPr/>
        </p:nvSpPr>
        <p:spPr>
          <a:xfrm>
            <a:off x="1234440" y="1371600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Projeto compactado em .ZIP com estrutura organizada</a:t>
            </a:r>
            <a:endParaRPr lang="en-US" sz="1500" dirty="0"/>
          </a:p>
        </p:txBody>
      </p:sp>
      <p:sp>
        <p:nvSpPr>
          <p:cNvPr id="6" name="Item 2"/>
          <p:cNvSpPr/>
          <p:nvPr/>
        </p:nvSpPr>
        <p:spPr>
          <a:xfrm>
            <a:off x="548640" y="2029968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Check item 2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30552"/>
            <a:ext cx="329184" cy="329184"/>
          </a:xfrm>
          <a:prstGeom prst="rect">
            <a:avLst/>
          </a:prstGeom>
        </p:spPr>
      </p:pic>
      <p:sp>
        <p:nvSpPr>
          <p:cNvPr id="8" name="Texto item 2"/>
          <p:cNvSpPr txBox="1"/>
          <p:nvPr/>
        </p:nvSpPr>
        <p:spPr>
          <a:xfrm>
            <a:off x="1234440" y="2029968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Dockerfile funcional</a:t>
            </a:r>
            <a:endParaRPr lang="en-US" sz="1500" dirty="0"/>
          </a:p>
        </p:txBody>
      </p:sp>
      <p:sp>
        <p:nvSpPr>
          <p:cNvPr id="9" name="Item 3"/>
          <p:cNvSpPr/>
          <p:nvPr/>
        </p:nvSpPr>
        <p:spPr>
          <a:xfrm>
            <a:off x="548640" y="2688336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Check item 3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88920"/>
            <a:ext cx="329184" cy="329184"/>
          </a:xfrm>
          <a:prstGeom prst="rect">
            <a:avLst/>
          </a:prstGeom>
        </p:spPr>
      </p:pic>
      <p:sp>
        <p:nvSpPr>
          <p:cNvPr id="11" name="Texto item 3"/>
          <p:cNvSpPr txBox="1"/>
          <p:nvPr/>
        </p:nvSpPr>
        <p:spPr>
          <a:xfrm>
            <a:off x="1234440" y="2688336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docker-compose.yml ou arquivos Kubernetes</a:t>
            </a:r>
            <a:endParaRPr lang="en-US" sz="1500" dirty="0"/>
          </a:p>
        </p:txBody>
      </p:sp>
      <p:sp>
        <p:nvSpPr>
          <p:cNvPr id="12" name="Item 4"/>
          <p:cNvSpPr/>
          <p:nvPr/>
        </p:nvSpPr>
        <p:spPr>
          <a:xfrm>
            <a:off x="548640" y="3346704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Check item 4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447288"/>
            <a:ext cx="329184" cy="329184"/>
          </a:xfrm>
          <a:prstGeom prst="rect">
            <a:avLst/>
          </a:prstGeom>
        </p:spPr>
      </p:pic>
      <p:sp>
        <p:nvSpPr>
          <p:cNvPr id="14" name="Texto item 4"/>
          <p:cNvSpPr txBox="1"/>
          <p:nvPr/>
        </p:nvSpPr>
        <p:spPr>
          <a:xfrm>
            <a:off x="1234440" y="3346704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Pipeline com etapas de build, teste e deploy</a:t>
            </a:r>
            <a:endParaRPr lang="en-US" sz="1500" dirty="0"/>
          </a:p>
        </p:txBody>
      </p:sp>
      <p:sp>
        <p:nvSpPr>
          <p:cNvPr id="15" name="Item 5"/>
          <p:cNvSpPr/>
          <p:nvPr/>
        </p:nvSpPr>
        <p:spPr>
          <a:xfrm>
            <a:off x="548640" y="4005072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Check item 5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05656"/>
            <a:ext cx="329184" cy="329184"/>
          </a:xfrm>
          <a:prstGeom prst="rect">
            <a:avLst/>
          </a:prstGeom>
        </p:spPr>
      </p:pic>
      <p:sp>
        <p:nvSpPr>
          <p:cNvPr id="17" name="Texto item 5"/>
          <p:cNvSpPr txBox="1"/>
          <p:nvPr/>
        </p:nvSpPr>
        <p:spPr>
          <a:xfrm>
            <a:off x="1234440" y="4005072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README.md com instruções e prints</a:t>
            </a:r>
            <a:endParaRPr lang="en-US" sz="1500" dirty="0"/>
          </a:p>
        </p:txBody>
      </p:sp>
      <p:sp>
        <p:nvSpPr>
          <p:cNvPr id="18" name="Item 6"/>
          <p:cNvSpPr/>
          <p:nvPr/>
        </p:nvSpPr>
        <p:spPr>
          <a:xfrm>
            <a:off x="548640" y="4663440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Check item 6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64024"/>
            <a:ext cx="329184" cy="329184"/>
          </a:xfrm>
          <a:prstGeom prst="rect">
            <a:avLst/>
          </a:prstGeom>
        </p:spPr>
      </p:pic>
      <p:sp>
        <p:nvSpPr>
          <p:cNvPr id="20" name="Texto item 6"/>
          <p:cNvSpPr txBox="1"/>
          <p:nvPr/>
        </p:nvSpPr>
        <p:spPr>
          <a:xfrm>
            <a:off x="1234440" y="4663440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Documentação técnica com evidências (PDF ou PPT)</a:t>
            </a:r>
            <a:endParaRPr lang="en-US" sz="1500" dirty="0"/>
          </a:p>
        </p:txBody>
      </p:sp>
      <p:sp>
        <p:nvSpPr>
          <p:cNvPr id="21" name="Item 7"/>
          <p:cNvSpPr/>
          <p:nvPr/>
        </p:nvSpPr>
        <p:spPr>
          <a:xfrm>
            <a:off x="548640" y="5321808"/>
            <a:ext cx="749808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Check item 7" descr="concluíd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22392"/>
            <a:ext cx="329184" cy="329184"/>
          </a:xfrm>
          <a:prstGeom prst="rect">
            <a:avLst/>
          </a:prstGeom>
        </p:spPr>
      </p:pic>
      <p:sp>
        <p:nvSpPr>
          <p:cNvPr id="23" name="Texto item 7"/>
          <p:cNvSpPr txBox="1"/>
          <p:nvPr/>
        </p:nvSpPr>
        <p:spPr>
          <a:xfrm>
            <a:off x="1234440" y="5321808"/>
            <a:ext cx="66751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Deploy realizado nos ambientes staging e produção</a:t>
            </a:r>
            <a:endParaRPr lang="en-US" sz="1500" dirty="0"/>
          </a:p>
        </p:txBody>
      </p:sp>
      <p:sp>
        <p:nvSpPr>
          <p:cNvPr id="25" name="Texto entregáveis"/>
          <p:cNvSpPr txBox="1"/>
          <p:nvPr/>
        </p:nvSpPr>
        <p:spPr>
          <a:xfrm>
            <a:off x="8686800" y="1600200"/>
            <a:ext cx="27432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Entregáveis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Código-fonte (.zip)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README.md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Esta apresentação (PDF)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Link das execuções no GitHub Actions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Track DevOps">
  <a:themeElements>
    <a:clrScheme name="EcoTrack DevOps">
      <a:dk1>
        <a:srgbClr val="1B2A26"/>
      </a:dk1>
      <a:lt1>
        <a:srgbClr val="FFFFFF"/>
      </a:lt1>
      <a:dk2>
        <a:srgbClr val="1F4E3D"/>
      </a:dk2>
      <a:lt2>
        <a:srgbClr val="EEF5F1"/>
      </a:lt2>
      <a:accent1>
        <a:srgbClr val="1F4E3D"/>
      </a:accent1>
      <a:accent2>
        <a:srgbClr val="3BB273"/>
      </a:accent2>
      <a:accent3>
        <a:srgbClr val="F2A541"/>
      </a:accent3>
      <a:accent4>
        <a:srgbClr val="2E86AB"/>
      </a:accent4>
      <a:accent5>
        <a:srgbClr val="D1495B"/>
      </a:accent5>
      <a:accent6>
        <a:srgbClr val="6B7B75"/>
      </a:accent6>
      <a:hlink>
        <a:srgbClr val="2E86AB"/>
      </a:hlink>
      <a:folHlink>
        <a:srgbClr val="6B7B75"/>
      </a:folHlink>
    </a:clrScheme>
    <a:fontScheme name="EcoTrack Dev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coTrack DevOps">
  <a:themeElements>
    <a:clrScheme name="EcoTrack DevOps">
      <a:dk1>
        <a:srgbClr val="1B2A26"/>
      </a:dk1>
      <a:lt1>
        <a:srgbClr val="FFFFFF"/>
      </a:lt1>
      <a:dk2>
        <a:srgbClr val="1F4E3D"/>
      </a:dk2>
      <a:lt2>
        <a:srgbClr val="EEF5F1"/>
      </a:lt2>
      <a:accent1>
        <a:srgbClr val="1F4E3D"/>
      </a:accent1>
      <a:accent2>
        <a:srgbClr val="3BB273"/>
      </a:accent2>
      <a:accent3>
        <a:srgbClr val="F2A541"/>
      </a:accent3>
      <a:accent4>
        <a:srgbClr val="2E86AB"/>
      </a:accent4>
      <a:accent5>
        <a:srgbClr val="D1495B"/>
      </a:accent5>
      <a:accent6>
        <a:srgbClr val="6B7B75"/>
      </a:accent6>
      <a:hlink>
        <a:srgbClr val="2E86AB"/>
      </a:hlink>
      <a:folHlink>
        <a:srgbClr val="6B7B75"/>
      </a:folHlink>
    </a:clrScheme>
    <a:fontScheme name="EcoTrack Dev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7430</Words>
  <Application>WPS Presentation</Application>
  <PresentationFormat>On-screen Show (16:9)</PresentationFormat>
  <Paragraphs>443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Microsoft YaHei</vt:lpstr>
      <vt:lpstr>Arial Unicode MS</vt:lpstr>
      <vt:lpstr>EcoTrack DevOps</vt:lpstr>
      <vt:lpstr>EcoTrack API — Desafio DevOps</vt:lpstr>
      <vt:lpstr>Do código à produção, sem passos manuais</vt:lpstr>
      <vt:lpstr>Arquitetura da solução DevOps</vt:lpstr>
      <vt:lpstr>Pipeline CI/CD no GitHub Actions: 5 etapas</vt:lpstr>
      <vt:lpstr>Deploy: a mesma imagem de staging a produção</vt:lpstr>
      <vt:lpstr>Staging × Produção: o que muda</vt:lpstr>
      <vt:lpstr>9 smoke tests validam cada ambiente após o deploy</vt:lpstr>
      <vt:lpstr>Dockerfile multi-stage: build × runtime</vt:lpstr>
      <vt:lpstr>Docker Compose: serviços, volumes, redes e variáveis</vt:lpstr>
      <vt:lpstr>Comandos usados e imagem criada</vt:lpstr>
      <vt:lpstr>Pipeline rodando: visão geral, build e testes</vt:lpstr>
      <vt:lpstr>Pipeline rodando: imagem e deploys</vt:lpstr>
      <vt:lpstr>Desafios encontrados e como foram resolvidos</vt:lpstr>
      <vt:lpstr>Checklist de entrega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Cidades ESG Inteligentes — EcoTrack API: Desafio DevOps</dc:title>
  <dc:creator>Ana Luiza Arcanjo</dc:creator>
  <dc:subject>PptxGenJS Presentation</dc:subject>
  <cp:lastModifiedBy>Ana Luiza Arcanjo</cp:lastModifiedBy>
  <cp:revision>7</cp:revision>
  <dcterms:created xsi:type="dcterms:W3CDTF">2026-10-13T20:14:00Z</dcterms:created>
  <dcterms:modified xsi:type="dcterms:W3CDTF">2026-10-13T23:28:51Z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1046-12.1.0.28485</vt:lpwstr>
  </property>
  <property fmtid="{D5CDD505-2E9C-101B-9397-08002B2CF9AE}" pid="3" name="ICV">
    <vt:lpwstr>42D3BB6A5910470BB587EF9B952822B6_12</vt:lpwstr>
  </property>
</Properties>
</file>